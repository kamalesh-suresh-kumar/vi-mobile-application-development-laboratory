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7" r:id="rId10"/>
    <p:sldId id="266" r:id="rId11"/>
    <p:sldId id="264" r:id="rId12"/>
    <p:sldId id="265"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5337" autoAdjust="0"/>
  </p:normalViewPr>
  <p:slideViewPr>
    <p:cSldViewPr snapToGrid="0" snapToObjects="1">
      <p:cViewPr>
        <p:scale>
          <a:sx n="126" d="100"/>
          <a:sy n="126" d="100"/>
        </p:scale>
        <p:origin x="20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6996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9826425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6856903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296047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0B4D8"/>
          </a:solidFill>
          <a:ln/>
        </p:spPr>
      </p:sp>
      <p:pic>
        <p:nvPicPr>
          <p:cNvPr id="3" name="Image 0" descr="preencoded.png"/>
          <p:cNvPicPr>
            <a:picLocks noChangeAspect="1"/>
          </p:cNvPicPr>
          <p:nvPr/>
        </p:nvPicPr>
        <p:blipFill>
          <a:blip r:embed="rId3"/>
          <a:stretch>
            <a:fillRect/>
          </a:stretch>
        </p:blipFill>
        <p:spPr>
          <a:xfrm>
            <a:off x="320040" y="502920"/>
            <a:ext cx="2651760" cy="2651760"/>
          </a:xfrm>
          <a:prstGeom prst="rect">
            <a:avLst/>
          </a:prstGeom>
        </p:spPr>
      </p:pic>
      <p:sp>
        <p:nvSpPr>
          <p:cNvPr id="4" name="Text 1"/>
          <p:cNvSpPr/>
          <p:nvPr/>
        </p:nvSpPr>
        <p:spPr>
          <a:xfrm>
            <a:off x="3200400" y="594360"/>
            <a:ext cx="5669280" cy="105156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SchedIQ</a:t>
            </a:r>
            <a:endParaRPr lang="en-US" sz="5400" dirty="0"/>
          </a:p>
        </p:txBody>
      </p:sp>
      <p:sp>
        <p:nvSpPr>
          <p:cNvPr id="5" name="Text 2"/>
          <p:cNvSpPr/>
          <p:nvPr/>
        </p:nvSpPr>
        <p:spPr>
          <a:xfrm>
            <a:off x="3200400" y="1627632"/>
            <a:ext cx="5669280" cy="438912"/>
          </a:xfrm>
          <a:prstGeom prst="rect">
            <a:avLst/>
          </a:prstGeom>
          <a:noFill/>
          <a:ln/>
        </p:spPr>
        <p:txBody>
          <a:bodyPr wrap="square" lIns="0" tIns="0" rIns="0" bIns="0" rtlCol="0" anchor="ctr"/>
          <a:lstStyle/>
          <a:p>
            <a:pPr marL="0" indent="0">
              <a:buNone/>
            </a:pPr>
            <a:r>
              <a:rPr lang="en-US" sz="1900" dirty="0">
                <a:solidFill>
                  <a:srgbClr val="00B4D8"/>
                </a:solidFill>
                <a:latin typeface="Calibri" pitchFamily="34" charset="0"/>
                <a:ea typeface="Calibri" pitchFamily="34" charset="-122"/>
                <a:cs typeface="Calibri" pitchFamily="34" charset="-120"/>
              </a:rPr>
              <a:t>Smart Timetable Manager</a:t>
            </a:r>
            <a:endParaRPr lang="en-US" sz="1900" dirty="0"/>
          </a:p>
        </p:txBody>
      </p:sp>
      <p:sp>
        <p:nvSpPr>
          <p:cNvPr id="6" name="Shape 3"/>
          <p:cNvSpPr/>
          <p:nvPr/>
        </p:nvSpPr>
        <p:spPr>
          <a:xfrm>
            <a:off x="3200400" y="2139696"/>
            <a:ext cx="5669280" cy="27432"/>
          </a:xfrm>
          <a:prstGeom prst="rect">
            <a:avLst/>
          </a:prstGeom>
          <a:solidFill>
            <a:srgbClr val="1E3A5F"/>
          </a:solidFill>
          <a:ln/>
        </p:spPr>
      </p:sp>
      <p:sp>
        <p:nvSpPr>
          <p:cNvPr id="7" name="Text 4"/>
          <p:cNvSpPr/>
          <p:nvPr/>
        </p:nvSpPr>
        <p:spPr>
          <a:xfrm>
            <a:off x="3200400" y="2240280"/>
            <a:ext cx="1691640" cy="365760"/>
          </a:xfrm>
          <a:prstGeom prst="rect">
            <a:avLst/>
          </a:prstGeom>
          <a:noFill/>
          <a:ln/>
        </p:spPr>
        <p:txBody>
          <a:bodyPr wrap="square" lIns="0" tIns="0" rIns="0" bIns="0" rtlCol="0" anchor="ctr"/>
          <a:lstStyle/>
          <a:p>
            <a:pPr marL="0" indent="0">
              <a:buNone/>
            </a:pPr>
            <a:r>
              <a:rPr lang="en-US" sz="1100" b="1" dirty="0">
                <a:solidFill>
                  <a:srgbClr val="90CAF9"/>
                </a:solidFill>
                <a:latin typeface="Calibri" pitchFamily="34" charset="0"/>
                <a:ea typeface="Calibri" pitchFamily="34" charset="-122"/>
                <a:cs typeface="Calibri" pitchFamily="34" charset="-120"/>
              </a:rPr>
              <a:t>Name :</a:t>
            </a:r>
            <a:endParaRPr lang="en-US" sz="1100" dirty="0"/>
          </a:p>
        </p:txBody>
      </p:sp>
      <p:sp>
        <p:nvSpPr>
          <p:cNvPr id="8" name="Text 5"/>
          <p:cNvSpPr/>
          <p:nvPr/>
        </p:nvSpPr>
        <p:spPr>
          <a:xfrm>
            <a:off x="4919472" y="2240280"/>
            <a:ext cx="393192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Your Name ]</a:t>
            </a:r>
            <a:endParaRPr lang="en-US" sz="1100" dirty="0"/>
          </a:p>
        </p:txBody>
      </p:sp>
      <p:sp>
        <p:nvSpPr>
          <p:cNvPr id="9" name="Text 6"/>
          <p:cNvSpPr/>
          <p:nvPr/>
        </p:nvSpPr>
        <p:spPr>
          <a:xfrm>
            <a:off x="3200400" y="2688336"/>
            <a:ext cx="1691640" cy="365760"/>
          </a:xfrm>
          <a:prstGeom prst="rect">
            <a:avLst/>
          </a:prstGeom>
          <a:noFill/>
          <a:ln/>
        </p:spPr>
        <p:txBody>
          <a:bodyPr wrap="square" lIns="0" tIns="0" rIns="0" bIns="0" rtlCol="0" anchor="ctr"/>
          <a:lstStyle/>
          <a:p>
            <a:pPr marL="0" indent="0">
              <a:buNone/>
            </a:pPr>
            <a:r>
              <a:rPr lang="en-US" sz="1100" b="1" dirty="0">
                <a:solidFill>
                  <a:srgbClr val="90CAF9"/>
                </a:solidFill>
                <a:latin typeface="Calibri" pitchFamily="34" charset="0"/>
                <a:ea typeface="Calibri" pitchFamily="34" charset="-122"/>
                <a:cs typeface="Calibri" pitchFamily="34" charset="-120"/>
              </a:rPr>
              <a:t>Roll No. :</a:t>
            </a:r>
            <a:endParaRPr lang="en-US" sz="1100" dirty="0"/>
          </a:p>
        </p:txBody>
      </p:sp>
      <p:sp>
        <p:nvSpPr>
          <p:cNvPr id="10" name="Text 7"/>
          <p:cNvSpPr/>
          <p:nvPr/>
        </p:nvSpPr>
        <p:spPr>
          <a:xfrm>
            <a:off x="4919472" y="2688336"/>
            <a:ext cx="393192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Roll Number ]</a:t>
            </a:r>
            <a:endParaRPr lang="en-US" sz="1100" dirty="0"/>
          </a:p>
        </p:txBody>
      </p:sp>
      <p:sp>
        <p:nvSpPr>
          <p:cNvPr id="11" name="Text 8"/>
          <p:cNvSpPr/>
          <p:nvPr/>
        </p:nvSpPr>
        <p:spPr>
          <a:xfrm>
            <a:off x="3200400" y="3136392"/>
            <a:ext cx="1691640" cy="365760"/>
          </a:xfrm>
          <a:prstGeom prst="rect">
            <a:avLst/>
          </a:prstGeom>
          <a:noFill/>
          <a:ln/>
        </p:spPr>
        <p:txBody>
          <a:bodyPr wrap="square" lIns="0" tIns="0" rIns="0" bIns="0" rtlCol="0" anchor="ctr"/>
          <a:lstStyle/>
          <a:p>
            <a:pPr marL="0" indent="0">
              <a:buNone/>
            </a:pPr>
            <a:r>
              <a:rPr lang="en-US" sz="1100" b="1" dirty="0">
                <a:solidFill>
                  <a:srgbClr val="90CAF9"/>
                </a:solidFill>
                <a:latin typeface="Calibri" pitchFamily="34" charset="0"/>
                <a:ea typeface="Calibri" pitchFamily="34" charset="-122"/>
                <a:cs typeface="Calibri" pitchFamily="34" charset="-120"/>
              </a:rPr>
              <a:t>Department :</a:t>
            </a:r>
            <a:endParaRPr lang="en-US" sz="1100" dirty="0"/>
          </a:p>
        </p:txBody>
      </p:sp>
      <p:sp>
        <p:nvSpPr>
          <p:cNvPr id="12" name="Text 9"/>
          <p:cNvSpPr/>
          <p:nvPr/>
        </p:nvSpPr>
        <p:spPr>
          <a:xfrm>
            <a:off x="4919472" y="3136392"/>
            <a:ext cx="393192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Department ]</a:t>
            </a:r>
            <a:endParaRPr lang="en-US" sz="1100" dirty="0"/>
          </a:p>
        </p:txBody>
      </p:sp>
      <p:sp>
        <p:nvSpPr>
          <p:cNvPr id="13" name="Text 10"/>
          <p:cNvSpPr/>
          <p:nvPr/>
        </p:nvSpPr>
        <p:spPr>
          <a:xfrm>
            <a:off x="3200400" y="3584448"/>
            <a:ext cx="1691640" cy="365760"/>
          </a:xfrm>
          <a:prstGeom prst="rect">
            <a:avLst/>
          </a:prstGeom>
          <a:noFill/>
          <a:ln/>
        </p:spPr>
        <p:txBody>
          <a:bodyPr wrap="square" lIns="0" tIns="0" rIns="0" bIns="0" rtlCol="0" anchor="ctr"/>
          <a:lstStyle/>
          <a:p>
            <a:pPr marL="0" indent="0">
              <a:buNone/>
            </a:pPr>
            <a:r>
              <a:rPr lang="en-US" sz="1100" b="1" dirty="0">
                <a:solidFill>
                  <a:srgbClr val="90CAF9"/>
                </a:solidFill>
                <a:latin typeface="Calibri" pitchFamily="34" charset="0"/>
                <a:ea typeface="Calibri" pitchFamily="34" charset="-122"/>
                <a:cs typeface="Calibri" pitchFamily="34" charset="-120"/>
              </a:rPr>
              <a:t>Subject Code :</a:t>
            </a:r>
            <a:endParaRPr lang="en-US" sz="1100" dirty="0"/>
          </a:p>
        </p:txBody>
      </p:sp>
      <p:sp>
        <p:nvSpPr>
          <p:cNvPr id="14" name="Text 11"/>
          <p:cNvSpPr/>
          <p:nvPr/>
        </p:nvSpPr>
        <p:spPr>
          <a:xfrm>
            <a:off x="4919472" y="3584448"/>
            <a:ext cx="393192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Subject Code ]</a:t>
            </a:r>
            <a:endParaRPr lang="en-US" sz="1100" dirty="0"/>
          </a:p>
        </p:txBody>
      </p:sp>
      <p:sp>
        <p:nvSpPr>
          <p:cNvPr id="15" name="Text 12"/>
          <p:cNvSpPr/>
          <p:nvPr/>
        </p:nvSpPr>
        <p:spPr>
          <a:xfrm>
            <a:off x="3200400" y="4032504"/>
            <a:ext cx="1691640" cy="365760"/>
          </a:xfrm>
          <a:prstGeom prst="rect">
            <a:avLst/>
          </a:prstGeom>
          <a:noFill/>
          <a:ln/>
        </p:spPr>
        <p:txBody>
          <a:bodyPr wrap="square" lIns="0" tIns="0" rIns="0" bIns="0" rtlCol="0" anchor="ctr"/>
          <a:lstStyle/>
          <a:p>
            <a:pPr marL="0" indent="0">
              <a:buNone/>
            </a:pPr>
            <a:r>
              <a:rPr lang="en-US" sz="1100" b="1" dirty="0">
                <a:solidFill>
                  <a:srgbClr val="90CAF9"/>
                </a:solidFill>
                <a:latin typeface="Calibri" pitchFamily="34" charset="0"/>
                <a:ea typeface="Calibri" pitchFamily="34" charset="-122"/>
                <a:cs typeface="Calibri" pitchFamily="34" charset="-120"/>
              </a:rPr>
              <a:t>Subject Name :</a:t>
            </a:r>
            <a:endParaRPr lang="en-US" sz="1100" dirty="0"/>
          </a:p>
        </p:txBody>
      </p:sp>
      <p:sp>
        <p:nvSpPr>
          <p:cNvPr id="16" name="Text 13"/>
          <p:cNvSpPr/>
          <p:nvPr/>
        </p:nvSpPr>
        <p:spPr>
          <a:xfrm>
            <a:off x="4919472" y="4032504"/>
            <a:ext cx="393192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Mobile Application Development Lab</a:t>
            </a:r>
            <a:endParaRPr lang="en-US" sz="1100" dirty="0"/>
          </a:p>
        </p:txBody>
      </p:sp>
      <p:sp>
        <p:nvSpPr>
          <p:cNvPr id="17" name="Text 14"/>
          <p:cNvSpPr/>
          <p:nvPr/>
        </p:nvSpPr>
        <p:spPr>
          <a:xfrm>
            <a:off x="137160" y="4800600"/>
            <a:ext cx="8869680" cy="256032"/>
          </a:xfrm>
          <a:prstGeom prst="rect">
            <a:avLst/>
          </a:prstGeom>
          <a:noFill/>
          <a:ln/>
        </p:spPr>
        <p:txBody>
          <a:bodyPr wrap="square" lIns="0" tIns="0" rIns="0" bIns="0" rtlCol="0" anchor="ctr"/>
          <a:lstStyle/>
          <a:p>
            <a:pPr marL="0" indent="0" algn="ctr">
              <a:buNone/>
            </a:pPr>
            <a:r>
              <a:rPr lang="en-US" sz="900" dirty="0">
                <a:solidFill>
                  <a:srgbClr val="3D5A80"/>
                </a:solidFill>
                <a:latin typeface="Calibri" pitchFamily="34" charset="0"/>
                <a:ea typeface="Calibri" pitchFamily="34" charset="-122"/>
                <a:cs typeface="Calibri" pitchFamily="34" charset="-120"/>
              </a:rPr>
              <a:t>Flutter  ·  Dart  ·  SQLite  ·  Provider Pattern  ·  Version 2.0  ·  Android</a:t>
            </a:r>
            <a:endParaRPr lang="en-US" sz="9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565C0"/>
          </a:solidFill>
          <a:ln/>
        </p:spPr>
      </p:sp>
      <p:sp>
        <p:nvSpPr>
          <p:cNvPr id="3" name="Text 1"/>
          <p:cNvSpPr/>
          <p:nvPr/>
        </p:nvSpPr>
        <p:spPr>
          <a:xfrm>
            <a:off x="320040" y="0"/>
            <a:ext cx="8503920" cy="56692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Abstract</a:t>
            </a:r>
            <a:endParaRPr lang="en-US" sz="2200" dirty="0"/>
          </a:p>
        </p:txBody>
      </p:sp>
      <p:sp>
        <p:nvSpPr>
          <p:cNvPr id="4" name="Shape 2"/>
          <p:cNvSpPr/>
          <p:nvPr/>
        </p:nvSpPr>
        <p:spPr>
          <a:xfrm>
            <a:off x="228600" y="658368"/>
            <a:ext cx="1371600" cy="246888"/>
          </a:xfrm>
          <a:prstGeom prst="rect">
            <a:avLst/>
          </a:prstGeom>
          <a:solidFill>
            <a:srgbClr val="1565C0"/>
          </a:solidFill>
          <a:ln/>
        </p:spPr>
      </p:sp>
      <p:sp>
        <p:nvSpPr>
          <p:cNvPr id="5" name="Text 3"/>
          <p:cNvSpPr/>
          <p:nvPr/>
        </p:nvSpPr>
        <p:spPr>
          <a:xfrm>
            <a:off x="228600" y="658368"/>
            <a:ext cx="1371600" cy="24688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OVERVIEW</a:t>
            </a:r>
            <a:endParaRPr lang="en-US" sz="900" dirty="0"/>
          </a:p>
        </p:txBody>
      </p:sp>
      <p:sp>
        <p:nvSpPr>
          <p:cNvPr id="6" name="Text 4"/>
          <p:cNvSpPr/>
          <p:nvPr/>
        </p:nvSpPr>
        <p:spPr>
          <a:xfrm>
            <a:off x="228600" y="932688"/>
            <a:ext cx="5074920" cy="987552"/>
          </a:xfrm>
          <a:prstGeom prst="rect">
            <a:avLst/>
          </a:prstGeom>
          <a:noFill/>
          <a:ln/>
        </p:spPr>
        <p:txBody>
          <a:bodyPr wrap="square" lIns="38100" tIns="63500" rIns="63500" bIns="38100" rtlCol="0" anchor="ctr"/>
          <a:lstStyle/>
          <a:p>
            <a:pPr marL="0" indent="0" algn="just">
              <a:buNone/>
            </a:pPr>
            <a:r>
              <a:rPr lang="en-US" sz="1200" dirty="0">
                <a:solidFill>
                  <a:srgbClr val="475569"/>
                </a:solidFill>
                <a:latin typeface="Calibri" pitchFamily="34" charset="0"/>
                <a:ea typeface="Calibri" pitchFamily="34" charset="-122"/>
                <a:cs typeface="Calibri" pitchFamily="34" charset="-120"/>
              </a:rPr>
              <a:t>SchedIQ — Smart Timetable Manager is a Flutter-based mobile application designed specifically for academic students who need a reliable, intelligent, and fully offline solution to manage their weekly class schedule and monitor their attendance. The name stands for "Schedule IQ", reflecting the app's intelligent, data-driven approach to academic time management.</a:t>
            </a:r>
            <a:endParaRPr lang="en-US" sz="1200" dirty="0"/>
          </a:p>
        </p:txBody>
      </p:sp>
      <p:sp>
        <p:nvSpPr>
          <p:cNvPr id="7" name="Shape 5"/>
          <p:cNvSpPr/>
          <p:nvPr/>
        </p:nvSpPr>
        <p:spPr>
          <a:xfrm>
            <a:off x="228600" y="1993392"/>
            <a:ext cx="1737360" cy="246888"/>
          </a:xfrm>
          <a:prstGeom prst="rect">
            <a:avLst/>
          </a:prstGeom>
          <a:solidFill>
            <a:srgbClr val="0A1628"/>
          </a:solidFill>
          <a:ln/>
        </p:spPr>
      </p:sp>
      <p:sp>
        <p:nvSpPr>
          <p:cNvPr id="8" name="Text 6"/>
          <p:cNvSpPr/>
          <p:nvPr/>
        </p:nvSpPr>
        <p:spPr>
          <a:xfrm>
            <a:off x="228600" y="1993392"/>
            <a:ext cx="1737360" cy="24688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DEVELOPMENT HISTORY</a:t>
            </a:r>
            <a:endParaRPr lang="en-US" sz="900" dirty="0"/>
          </a:p>
        </p:txBody>
      </p:sp>
      <p:sp>
        <p:nvSpPr>
          <p:cNvPr id="9" name="Text 7"/>
          <p:cNvSpPr/>
          <p:nvPr/>
        </p:nvSpPr>
        <p:spPr>
          <a:xfrm>
            <a:off x="228600" y="2267712"/>
            <a:ext cx="5074920" cy="1389888"/>
          </a:xfrm>
          <a:prstGeom prst="rect">
            <a:avLst/>
          </a:prstGeom>
          <a:noFill/>
          <a:ln/>
        </p:spPr>
        <p:txBody>
          <a:bodyPr wrap="square" lIns="38100" tIns="63500" rIns="63500" bIns="38100" rtlCol="0" anchor="ctr"/>
          <a:lstStyle/>
          <a:p>
            <a:pPr marL="0" indent="0" algn="just">
              <a:buNone/>
            </a:pPr>
            <a:r>
              <a:rPr lang="en-US" sz="1200" dirty="0">
                <a:solidFill>
                  <a:srgbClr val="475569"/>
                </a:solidFill>
                <a:latin typeface="Calibri" pitchFamily="34" charset="0"/>
                <a:ea typeface="Calibri" pitchFamily="34" charset="-122"/>
                <a:cs typeface="Calibri" pitchFamily="34" charset="-120"/>
              </a:rPr>
              <a:t>SchedIQ was developed in two phases. Version 1 served as the foundational prototype, offering a basic hardcoded weekly timetable with simple add/delete functionality and a single SQLite-backed provider. Version 2 — presented here — is a complete production-ready upgrade introducing smart overlap detection, real-time attendance tracking with configurable alert thresholds, PDF export in the university-standard format, dark mode, student onboarding, holiday management, and a 45-day semester lifecycle automation system.</a:t>
            </a:r>
            <a:endParaRPr lang="en-US" sz="1200" dirty="0"/>
          </a:p>
        </p:txBody>
      </p:sp>
      <p:sp>
        <p:nvSpPr>
          <p:cNvPr id="10" name="Shape 8"/>
          <p:cNvSpPr/>
          <p:nvPr/>
        </p:nvSpPr>
        <p:spPr>
          <a:xfrm>
            <a:off x="228600" y="3730752"/>
            <a:ext cx="1371600" cy="246888"/>
          </a:xfrm>
          <a:prstGeom prst="rect">
            <a:avLst/>
          </a:prstGeom>
          <a:solidFill>
            <a:srgbClr val="0A1628"/>
          </a:solidFill>
          <a:ln/>
        </p:spPr>
      </p:sp>
      <p:sp>
        <p:nvSpPr>
          <p:cNvPr id="11" name="Text 9"/>
          <p:cNvSpPr/>
          <p:nvPr/>
        </p:nvSpPr>
        <p:spPr>
          <a:xfrm>
            <a:off x="228600" y="3730752"/>
            <a:ext cx="1371600" cy="24688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TECHNICAL STACK</a:t>
            </a:r>
            <a:endParaRPr lang="en-US" sz="900" dirty="0"/>
          </a:p>
        </p:txBody>
      </p:sp>
      <p:sp>
        <p:nvSpPr>
          <p:cNvPr id="12" name="Text 10"/>
          <p:cNvSpPr/>
          <p:nvPr/>
        </p:nvSpPr>
        <p:spPr>
          <a:xfrm>
            <a:off x="228600" y="4005072"/>
            <a:ext cx="5074920" cy="804672"/>
          </a:xfrm>
          <a:prstGeom prst="rect">
            <a:avLst/>
          </a:prstGeom>
          <a:noFill/>
          <a:ln/>
        </p:spPr>
        <p:txBody>
          <a:bodyPr wrap="square" lIns="38100" tIns="63500" rIns="63500" bIns="38100" rtlCol="0" anchor="ctr"/>
          <a:lstStyle/>
          <a:p>
            <a:pPr marL="0" indent="0" algn="l">
              <a:buNone/>
            </a:pPr>
            <a:r>
              <a:rPr lang="en-US" sz="1100" dirty="0">
                <a:solidFill>
                  <a:srgbClr val="475569"/>
                </a:solidFill>
                <a:latin typeface="Calibri" pitchFamily="34" charset="0"/>
                <a:ea typeface="Calibri" pitchFamily="34" charset="-122"/>
                <a:cs typeface="Calibri" pitchFamily="34" charset="-120"/>
              </a:rPr>
              <a:t>Platform: Android  ·  Framework: Flutter (Dart)  ·  Database: SQLite via sqflite  ·  State: Provider Pattern (6 providers)  ·  PDF: pdf + printing plugins  ·  Config: shared_preferences  ·  Alerts: flutter_local_notifications</a:t>
            </a:r>
            <a:endParaRPr lang="en-US" sz="1100" dirty="0"/>
          </a:p>
        </p:txBody>
      </p:sp>
      <p:sp>
        <p:nvSpPr>
          <p:cNvPr id="13" name="Shape 11"/>
          <p:cNvSpPr/>
          <p:nvPr/>
        </p:nvSpPr>
        <p:spPr>
          <a:xfrm>
            <a:off x="5532120" y="658368"/>
            <a:ext cx="3383280" cy="1005840"/>
          </a:xfrm>
          <a:prstGeom prst="rect">
            <a:avLst/>
          </a:prstGeom>
          <a:solidFill>
            <a:srgbClr val="F0F7FF"/>
          </a:solidFill>
          <a:ln w="12700">
            <a:solidFill>
              <a:srgbClr val="CBD5E1"/>
            </a:solidFill>
            <a:prstDash val="solid"/>
          </a:ln>
        </p:spPr>
      </p:sp>
      <p:sp>
        <p:nvSpPr>
          <p:cNvPr id="14" name="Shape 12"/>
          <p:cNvSpPr/>
          <p:nvPr/>
        </p:nvSpPr>
        <p:spPr>
          <a:xfrm>
            <a:off x="5532120" y="658368"/>
            <a:ext cx="64008" cy="1005840"/>
          </a:xfrm>
          <a:prstGeom prst="rect">
            <a:avLst/>
          </a:prstGeom>
          <a:solidFill>
            <a:srgbClr val="1565C0"/>
          </a:solidFill>
          <a:ln/>
        </p:spPr>
      </p:sp>
      <p:sp>
        <p:nvSpPr>
          <p:cNvPr id="15" name="Text 13"/>
          <p:cNvSpPr/>
          <p:nvPr/>
        </p:nvSpPr>
        <p:spPr>
          <a:xfrm>
            <a:off x="5669280" y="713232"/>
            <a:ext cx="3154680" cy="274320"/>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Dynamic Timetable Creation</a:t>
            </a:r>
            <a:endParaRPr lang="en-US" sz="1100" dirty="0"/>
          </a:p>
        </p:txBody>
      </p:sp>
      <p:sp>
        <p:nvSpPr>
          <p:cNvPr id="16" name="Text 14"/>
          <p:cNvSpPr/>
          <p:nvPr/>
        </p:nvSpPr>
        <p:spPr>
          <a:xfrm>
            <a:off x="5669280" y="987552"/>
            <a:ext cx="3154680" cy="62179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Students build their weekly schedule day by day. The system validates every new entry against existing slots and blocks any time conflict before it is saved to the database.</a:t>
            </a:r>
            <a:endParaRPr lang="en-US" sz="950" dirty="0"/>
          </a:p>
        </p:txBody>
      </p:sp>
      <p:sp>
        <p:nvSpPr>
          <p:cNvPr id="17" name="Shape 15"/>
          <p:cNvSpPr/>
          <p:nvPr/>
        </p:nvSpPr>
        <p:spPr>
          <a:xfrm>
            <a:off x="5532120" y="1773936"/>
            <a:ext cx="3383280" cy="1005840"/>
          </a:xfrm>
          <a:prstGeom prst="rect">
            <a:avLst/>
          </a:prstGeom>
          <a:solidFill>
            <a:srgbClr val="F0F7FF"/>
          </a:solidFill>
          <a:ln w="12700">
            <a:solidFill>
              <a:srgbClr val="CBD5E1"/>
            </a:solidFill>
            <a:prstDash val="solid"/>
          </a:ln>
        </p:spPr>
      </p:sp>
      <p:sp>
        <p:nvSpPr>
          <p:cNvPr id="18" name="Shape 16"/>
          <p:cNvSpPr/>
          <p:nvPr/>
        </p:nvSpPr>
        <p:spPr>
          <a:xfrm>
            <a:off x="5532120" y="1773936"/>
            <a:ext cx="64008" cy="1005840"/>
          </a:xfrm>
          <a:prstGeom prst="rect">
            <a:avLst/>
          </a:prstGeom>
          <a:solidFill>
            <a:srgbClr val="10B981"/>
          </a:solidFill>
          <a:ln/>
        </p:spPr>
      </p:sp>
      <p:sp>
        <p:nvSpPr>
          <p:cNvPr id="19" name="Text 17"/>
          <p:cNvSpPr/>
          <p:nvPr/>
        </p:nvSpPr>
        <p:spPr>
          <a:xfrm>
            <a:off x="5669280" y="1828800"/>
            <a:ext cx="3154680" cy="274320"/>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Attendance Tracking &amp; Alerts</a:t>
            </a:r>
            <a:endParaRPr lang="en-US" sz="1100" dirty="0"/>
          </a:p>
        </p:txBody>
      </p:sp>
      <p:sp>
        <p:nvSpPr>
          <p:cNvPr id="20" name="Text 18"/>
          <p:cNvSpPr/>
          <p:nvPr/>
        </p:nvSpPr>
        <p:spPr>
          <a:xfrm>
            <a:off x="5669280" y="2103120"/>
            <a:ext cx="3154680" cy="62179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Every class entry carries an attendance record. The app calculates a live percentage per subject and displays colour-coded warning or danger alerts when the percentage falls below student-defined thresholds.</a:t>
            </a:r>
            <a:endParaRPr lang="en-US" sz="950" dirty="0"/>
          </a:p>
        </p:txBody>
      </p:sp>
      <p:sp>
        <p:nvSpPr>
          <p:cNvPr id="21" name="Shape 19"/>
          <p:cNvSpPr/>
          <p:nvPr/>
        </p:nvSpPr>
        <p:spPr>
          <a:xfrm>
            <a:off x="5532120" y="2889504"/>
            <a:ext cx="3383280" cy="1005840"/>
          </a:xfrm>
          <a:prstGeom prst="rect">
            <a:avLst/>
          </a:prstGeom>
          <a:solidFill>
            <a:srgbClr val="F0F7FF"/>
          </a:solidFill>
          <a:ln w="12700">
            <a:solidFill>
              <a:srgbClr val="CBD5E1"/>
            </a:solidFill>
            <a:prstDash val="solid"/>
          </a:ln>
        </p:spPr>
      </p:sp>
      <p:sp>
        <p:nvSpPr>
          <p:cNvPr id="22" name="Shape 20"/>
          <p:cNvSpPr/>
          <p:nvPr/>
        </p:nvSpPr>
        <p:spPr>
          <a:xfrm>
            <a:off x="5532120" y="2889504"/>
            <a:ext cx="64008" cy="1005840"/>
          </a:xfrm>
          <a:prstGeom prst="rect">
            <a:avLst/>
          </a:prstGeom>
          <a:solidFill>
            <a:srgbClr val="F59E0B"/>
          </a:solidFill>
          <a:ln/>
        </p:spPr>
      </p:sp>
      <p:sp>
        <p:nvSpPr>
          <p:cNvPr id="23" name="Text 21"/>
          <p:cNvSpPr/>
          <p:nvPr/>
        </p:nvSpPr>
        <p:spPr>
          <a:xfrm>
            <a:off x="5669280" y="2944368"/>
            <a:ext cx="3154680" cy="274320"/>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PDF Export</a:t>
            </a:r>
            <a:endParaRPr lang="en-US" sz="1100" dirty="0"/>
          </a:p>
        </p:txBody>
      </p:sp>
      <p:sp>
        <p:nvSpPr>
          <p:cNvPr id="24" name="Text 22"/>
          <p:cNvSpPr/>
          <p:nvPr/>
        </p:nvSpPr>
        <p:spPr>
          <a:xfrm>
            <a:off x="5669280" y="3218688"/>
            <a:ext cx="3154680" cy="62179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A single tap generates a university-format landscape PDF with a 9-period time grid, working day rows, and a subject legend table — ready to print or share.</a:t>
            </a:r>
            <a:endParaRPr lang="en-US" sz="950" dirty="0"/>
          </a:p>
        </p:txBody>
      </p:sp>
      <p:sp>
        <p:nvSpPr>
          <p:cNvPr id="25" name="Shape 23"/>
          <p:cNvSpPr/>
          <p:nvPr/>
        </p:nvSpPr>
        <p:spPr>
          <a:xfrm>
            <a:off x="5532120" y="4005072"/>
            <a:ext cx="3383280" cy="1005840"/>
          </a:xfrm>
          <a:prstGeom prst="rect">
            <a:avLst/>
          </a:prstGeom>
          <a:solidFill>
            <a:srgbClr val="F0F7FF"/>
          </a:solidFill>
          <a:ln w="12700">
            <a:solidFill>
              <a:srgbClr val="CBD5E1"/>
            </a:solidFill>
            <a:prstDash val="solid"/>
          </a:ln>
        </p:spPr>
      </p:sp>
      <p:sp>
        <p:nvSpPr>
          <p:cNvPr id="26" name="Shape 24"/>
          <p:cNvSpPr/>
          <p:nvPr/>
        </p:nvSpPr>
        <p:spPr>
          <a:xfrm>
            <a:off x="5532120" y="4005072"/>
            <a:ext cx="64008" cy="1005840"/>
          </a:xfrm>
          <a:prstGeom prst="rect">
            <a:avLst/>
          </a:prstGeom>
          <a:solidFill>
            <a:srgbClr val="7C3AED"/>
          </a:solidFill>
          <a:ln/>
        </p:spPr>
      </p:sp>
      <p:sp>
        <p:nvSpPr>
          <p:cNvPr id="27" name="Text 25"/>
          <p:cNvSpPr/>
          <p:nvPr/>
        </p:nvSpPr>
        <p:spPr>
          <a:xfrm>
            <a:off x="5669280" y="4059936"/>
            <a:ext cx="3154680" cy="274320"/>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Smart Notifications &amp; Offline</a:t>
            </a:r>
            <a:endParaRPr lang="en-US" sz="1100" dirty="0"/>
          </a:p>
        </p:txBody>
      </p:sp>
      <p:sp>
        <p:nvSpPr>
          <p:cNvPr id="28" name="Text 26"/>
          <p:cNvSpPr/>
          <p:nvPr/>
        </p:nvSpPr>
        <p:spPr>
          <a:xfrm>
            <a:off x="5669280" y="4334256"/>
            <a:ext cx="3154680" cy="62179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Local notifications remind students of upcoming classes. The entire application — scheduling, attendance, PDF, notifications — functions with zero internet connectivity and no user account.</a:t>
            </a:r>
            <a:endParaRPr lang="en-US" sz="9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565C0"/>
          </a:solidFill>
          <a:ln/>
        </p:spPr>
      </p:sp>
      <p:sp>
        <p:nvSpPr>
          <p:cNvPr id="3" name="Text 1"/>
          <p:cNvSpPr/>
          <p:nvPr/>
        </p:nvSpPr>
        <p:spPr>
          <a:xfrm>
            <a:off x="320040" y="0"/>
            <a:ext cx="8503920" cy="56692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Problem Statement</a:t>
            </a:r>
            <a:endParaRPr lang="en-US" sz="2200" dirty="0"/>
          </a:p>
        </p:txBody>
      </p:sp>
      <p:sp>
        <p:nvSpPr>
          <p:cNvPr id="4" name="Text 2"/>
          <p:cNvSpPr/>
          <p:nvPr/>
        </p:nvSpPr>
        <p:spPr>
          <a:xfrm>
            <a:off x="228600" y="658368"/>
            <a:ext cx="8686800" cy="841248"/>
          </a:xfrm>
          <a:prstGeom prst="rect">
            <a:avLst/>
          </a:prstGeom>
          <a:noFill/>
          <a:ln/>
        </p:spPr>
        <p:txBody>
          <a:bodyPr wrap="square" lIns="38100" tIns="63500" rIns="63500" bIns="38100" rtlCol="0" anchor="ctr"/>
          <a:lstStyle/>
          <a:p>
            <a:pPr marL="0" indent="0" algn="just">
              <a:buNone/>
            </a:pPr>
            <a:r>
              <a:rPr lang="en-US" sz="1200" dirty="0">
                <a:solidFill>
                  <a:srgbClr val="475569"/>
                </a:solidFill>
                <a:latin typeface="Calibri" pitchFamily="34" charset="0"/>
                <a:ea typeface="Calibri" pitchFamily="34" charset="-122"/>
                <a:cs typeface="Calibri" pitchFamily="34" charset="-120"/>
              </a:rPr>
              <a:t>Every semester, students across engineering institutions receive their class timetable in the form of a printed sheet or a shared Excel file. While this approach has existed for decades, it is fundamentally ill-suited for the dynamic, mobile-first academic environment of today. Students are expected to self-manage their schedule, track their own attendance, and submit formatted timetables to faculty — all without any intelligent digital assistance.</a:t>
            </a:r>
            <a:endParaRPr lang="en-US" sz="1200" dirty="0"/>
          </a:p>
        </p:txBody>
      </p:sp>
      <p:sp>
        <p:nvSpPr>
          <p:cNvPr id="5" name="Shape 3"/>
          <p:cNvSpPr/>
          <p:nvPr/>
        </p:nvSpPr>
        <p:spPr>
          <a:xfrm>
            <a:off x="228600" y="1572768"/>
            <a:ext cx="4251960" cy="1572768"/>
          </a:xfrm>
          <a:prstGeom prst="rect">
            <a:avLst/>
          </a:prstGeom>
          <a:solidFill>
            <a:srgbClr val="F0F7FF"/>
          </a:solidFill>
          <a:ln w="12700">
            <a:solidFill>
              <a:srgbClr val="CBD5E1"/>
            </a:solidFill>
            <a:prstDash val="solid"/>
          </a:ln>
        </p:spPr>
      </p:sp>
      <p:sp>
        <p:nvSpPr>
          <p:cNvPr id="6" name="Shape 4"/>
          <p:cNvSpPr/>
          <p:nvPr/>
        </p:nvSpPr>
        <p:spPr>
          <a:xfrm>
            <a:off x="228600" y="1572768"/>
            <a:ext cx="64008" cy="1572768"/>
          </a:xfrm>
          <a:prstGeom prst="rect">
            <a:avLst/>
          </a:prstGeom>
          <a:solidFill>
            <a:srgbClr val="EF4444"/>
          </a:solidFill>
          <a:ln/>
        </p:spPr>
      </p:sp>
      <p:sp>
        <p:nvSpPr>
          <p:cNvPr id="7" name="Shape 5"/>
          <p:cNvSpPr/>
          <p:nvPr/>
        </p:nvSpPr>
        <p:spPr>
          <a:xfrm>
            <a:off x="393192" y="1700784"/>
            <a:ext cx="420624" cy="320040"/>
          </a:xfrm>
          <a:prstGeom prst="rect">
            <a:avLst/>
          </a:prstGeom>
          <a:solidFill>
            <a:srgbClr val="EF4444"/>
          </a:solidFill>
          <a:ln/>
        </p:spPr>
      </p:sp>
      <p:sp>
        <p:nvSpPr>
          <p:cNvPr id="8" name="Text 6"/>
          <p:cNvSpPr/>
          <p:nvPr/>
        </p:nvSpPr>
        <p:spPr>
          <a:xfrm>
            <a:off x="393192" y="1700784"/>
            <a:ext cx="420624"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905256" y="1664208"/>
            <a:ext cx="3447288" cy="347472"/>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Absence of Conflict Detection</a:t>
            </a:r>
            <a:endParaRPr lang="en-US" sz="1100" dirty="0"/>
          </a:p>
        </p:txBody>
      </p:sp>
      <p:sp>
        <p:nvSpPr>
          <p:cNvPr id="10" name="Text 8"/>
          <p:cNvSpPr/>
          <p:nvPr/>
        </p:nvSpPr>
        <p:spPr>
          <a:xfrm>
            <a:off x="393192" y="2066544"/>
            <a:ext cx="3977640" cy="987552"/>
          </a:xfrm>
          <a:prstGeom prst="rect">
            <a:avLst/>
          </a:prstGeom>
          <a:noFill/>
          <a:ln/>
        </p:spPr>
        <p:txBody>
          <a:bodyPr wrap="square" lIns="25400" tIns="50800" rIns="50800" bIns="25400" rtlCol="0" anchor="ctr"/>
          <a:lstStyle/>
          <a:p>
            <a:pPr marL="0" indent="0" algn="just">
              <a:buNone/>
            </a:pPr>
            <a:r>
              <a:rPr lang="en-US" sz="950" dirty="0">
                <a:solidFill>
                  <a:srgbClr val="475569"/>
                </a:solidFill>
                <a:latin typeface="Calibri" pitchFamily="34" charset="0"/>
                <a:ea typeface="Calibri" pitchFamily="34" charset="-122"/>
                <a:cs typeface="Calibri" pitchFamily="34" charset="-120"/>
              </a:rPr>
              <a:t>When students manually enter their schedule into a diary, calendar, or generic app, there is no mechanism to detect whether two classes have been booked at the same time slot. Such conflicts go unnoticed until the day itself, causing last-minute confusion and scheduling errors.</a:t>
            </a:r>
            <a:endParaRPr lang="en-US" sz="950" dirty="0"/>
          </a:p>
        </p:txBody>
      </p:sp>
      <p:sp>
        <p:nvSpPr>
          <p:cNvPr id="11" name="Shape 9"/>
          <p:cNvSpPr/>
          <p:nvPr/>
        </p:nvSpPr>
        <p:spPr>
          <a:xfrm>
            <a:off x="4709160" y="1572768"/>
            <a:ext cx="4251960" cy="1572768"/>
          </a:xfrm>
          <a:prstGeom prst="rect">
            <a:avLst/>
          </a:prstGeom>
          <a:solidFill>
            <a:srgbClr val="F0F7FF"/>
          </a:solidFill>
          <a:ln w="12700">
            <a:solidFill>
              <a:srgbClr val="CBD5E1"/>
            </a:solidFill>
            <a:prstDash val="solid"/>
          </a:ln>
        </p:spPr>
      </p:sp>
      <p:sp>
        <p:nvSpPr>
          <p:cNvPr id="12" name="Shape 10"/>
          <p:cNvSpPr/>
          <p:nvPr/>
        </p:nvSpPr>
        <p:spPr>
          <a:xfrm>
            <a:off x="4709160" y="1572768"/>
            <a:ext cx="64008" cy="1572768"/>
          </a:xfrm>
          <a:prstGeom prst="rect">
            <a:avLst/>
          </a:prstGeom>
          <a:solidFill>
            <a:srgbClr val="F59E0B"/>
          </a:solidFill>
          <a:ln/>
        </p:spPr>
      </p:sp>
      <p:sp>
        <p:nvSpPr>
          <p:cNvPr id="13" name="Shape 11"/>
          <p:cNvSpPr/>
          <p:nvPr/>
        </p:nvSpPr>
        <p:spPr>
          <a:xfrm>
            <a:off x="4873752" y="1700784"/>
            <a:ext cx="420624" cy="320040"/>
          </a:xfrm>
          <a:prstGeom prst="rect">
            <a:avLst/>
          </a:prstGeom>
          <a:solidFill>
            <a:srgbClr val="F59E0B"/>
          </a:solidFill>
          <a:ln/>
        </p:spPr>
      </p:sp>
      <p:sp>
        <p:nvSpPr>
          <p:cNvPr id="14" name="Text 12"/>
          <p:cNvSpPr/>
          <p:nvPr/>
        </p:nvSpPr>
        <p:spPr>
          <a:xfrm>
            <a:off x="4873752" y="1700784"/>
            <a:ext cx="420624"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5" name="Text 13"/>
          <p:cNvSpPr/>
          <p:nvPr/>
        </p:nvSpPr>
        <p:spPr>
          <a:xfrm>
            <a:off x="5385816" y="1664208"/>
            <a:ext cx="3447288" cy="347472"/>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No Attendance Visibility Until It Is Too Late</a:t>
            </a:r>
            <a:endParaRPr lang="en-US" sz="1100" dirty="0"/>
          </a:p>
        </p:txBody>
      </p:sp>
      <p:sp>
        <p:nvSpPr>
          <p:cNvPr id="16" name="Text 14"/>
          <p:cNvSpPr/>
          <p:nvPr/>
        </p:nvSpPr>
        <p:spPr>
          <a:xfrm>
            <a:off x="4873752" y="2066544"/>
            <a:ext cx="3977640" cy="987552"/>
          </a:xfrm>
          <a:prstGeom prst="rect">
            <a:avLst/>
          </a:prstGeom>
          <a:noFill/>
          <a:ln/>
        </p:spPr>
        <p:txBody>
          <a:bodyPr wrap="square" lIns="25400" tIns="50800" rIns="50800" bIns="25400" rtlCol="0" anchor="ctr"/>
          <a:lstStyle/>
          <a:p>
            <a:pPr marL="0" indent="0" algn="just">
              <a:buNone/>
            </a:pPr>
            <a:r>
              <a:rPr lang="en-US" sz="950" dirty="0">
                <a:solidFill>
                  <a:srgbClr val="475569"/>
                </a:solidFill>
                <a:latin typeface="Calibri" pitchFamily="34" charset="0"/>
                <a:ea typeface="Calibri" pitchFamily="34" charset="-122"/>
                <a:cs typeface="Calibri" pitchFamily="34" charset="-120"/>
              </a:rPr>
              <a:t>Most institutions require a minimum of 75% attendance per subject to be eligible for examinations. However, students have no real-time view of their running attendance percentage per class. They often discover a shortfall only in the final weeks of the semester, leaving no time for correction.</a:t>
            </a:r>
            <a:endParaRPr lang="en-US" sz="950" dirty="0"/>
          </a:p>
        </p:txBody>
      </p:sp>
      <p:sp>
        <p:nvSpPr>
          <p:cNvPr id="17" name="Shape 15"/>
          <p:cNvSpPr/>
          <p:nvPr/>
        </p:nvSpPr>
        <p:spPr>
          <a:xfrm>
            <a:off x="228600" y="3291840"/>
            <a:ext cx="4251960" cy="1572768"/>
          </a:xfrm>
          <a:prstGeom prst="rect">
            <a:avLst/>
          </a:prstGeom>
          <a:solidFill>
            <a:srgbClr val="F0F7FF"/>
          </a:solidFill>
          <a:ln w="12700">
            <a:solidFill>
              <a:srgbClr val="CBD5E1"/>
            </a:solidFill>
            <a:prstDash val="solid"/>
          </a:ln>
        </p:spPr>
      </p:sp>
      <p:sp>
        <p:nvSpPr>
          <p:cNvPr id="18" name="Shape 16"/>
          <p:cNvSpPr/>
          <p:nvPr/>
        </p:nvSpPr>
        <p:spPr>
          <a:xfrm>
            <a:off x="228600" y="3291840"/>
            <a:ext cx="64008" cy="1572768"/>
          </a:xfrm>
          <a:prstGeom prst="rect">
            <a:avLst/>
          </a:prstGeom>
          <a:solidFill>
            <a:srgbClr val="7C3AED"/>
          </a:solidFill>
          <a:ln/>
        </p:spPr>
      </p:sp>
      <p:sp>
        <p:nvSpPr>
          <p:cNvPr id="19" name="Shape 17"/>
          <p:cNvSpPr/>
          <p:nvPr/>
        </p:nvSpPr>
        <p:spPr>
          <a:xfrm>
            <a:off x="393192" y="3419856"/>
            <a:ext cx="420624" cy="320040"/>
          </a:xfrm>
          <a:prstGeom prst="rect">
            <a:avLst/>
          </a:prstGeom>
          <a:solidFill>
            <a:srgbClr val="7C3AED"/>
          </a:solidFill>
          <a:ln/>
        </p:spPr>
      </p:sp>
      <p:sp>
        <p:nvSpPr>
          <p:cNvPr id="20" name="Text 18"/>
          <p:cNvSpPr/>
          <p:nvPr/>
        </p:nvSpPr>
        <p:spPr>
          <a:xfrm>
            <a:off x="393192" y="3419856"/>
            <a:ext cx="420624"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1" name="Text 19"/>
          <p:cNvSpPr/>
          <p:nvPr/>
        </p:nvSpPr>
        <p:spPr>
          <a:xfrm>
            <a:off x="905256" y="3383280"/>
            <a:ext cx="3447288" cy="347472"/>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Manual and Tedious Semester Transitions</a:t>
            </a:r>
            <a:endParaRPr lang="en-US" sz="1100" dirty="0"/>
          </a:p>
        </p:txBody>
      </p:sp>
      <p:sp>
        <p:nvSpPr>
          <p:cNvPr id="22" name="Text 20"/>
          <p:cNvSpPr/>
          <p:nvPr/>
        </p:nvSpPr>
        <p:spPr>
          <a:xfrm>
            <a:off x="393192" y="3785616"/>
            <a:ext cx="3977640" cy="987552"/>
          </a:xfrm>
          <a:prstGeom prst="rect">
            <a:avLst/>
          </a:prstGeom>
          <a:noFill/>
          <a:ln/>
        </p:spPr>
        <p:txBody>
          <a:bodyPr wrap="square" lIns="25400" tIns="50800" rIns="50800" bIns="25400" rtlCol="0" anchor="ctr"/>
          <a:lstStyle/>
          <a:p>
            <a:pPr marL="0" indent="0" algn="just">
              <a:buNone/>
            </a:pPr>
            <a:r>
              <a:rPr lang="en-US" sz="950" dirty="0">
                <a:solidFill>
                  <a:srgbClr val="475569"/>
                </a:solidFill>
                <a:latin typeface="Calibri" pitchFamily="34" charset="0"/>
                <a:ea typeface="Calibri" pitchFamily="34" charset="-122"/>
                <a:cs typeface="Calibri" pitchFamily="34" charset="-120"/>
              </a:rPr>
              <a:t>At the end of every semester, the entire timetable becomes obsolete. Students must manually delete each class entry one by one from whatever tool they are using. There is no intelligent mechanism that recognises a semester has ended and offers a bulk reset for the new cycle.</a:t>
            </a:r>
            <a:endParaRPr lang="en-US" sz="950" dirty="0"/>
          </a:p>
        </p:txBody>
      </p:sp>
      <p:sp>
        <p:nvSpPr>
          <p:cNvPr id="23" name="Shape 21"/>
          <p:cNvSpPr/>
          <p:nvPr/>
        </p:nvSpPr>
        <p:spPr>
          <a:xfrm>
            <a:off x="4709160" y="3291840"/>
            <a:ext cx="4251960" cy="1572768"/>
          </a:xfrm>
          <a:prstGeom prst="rect">
            <a:avLst/>
          </a:prstGeom>
          <a:solidFill>
            <a:srgbClr val="F0F7FF"/>
          </a:solidFill>
          <a:ln w="12700">
            <a:solidFill>
              <a:srgbClr val="CBD5E1"/>
            </a:solidFill>
            <a:prstDash val="solid"/>
          </a:ln>
        </p:spPr>
      </p:sp>
      <p:sp>
        <p:nvSpPr>
          <p:cNvPr id="24" name="Shape 22"/>
          <p:cNvSpPr/>
          <p:nvPr/>
        </p:nvSpPr>
        <p:spPr>
          <a:xfrm>
            <a:off x="4709160" y="3291840"/>
            <a:ext cx="64008" cy="1572768"/>
          </a:xfrm>
          <a:prstGeom prst="rect">
            <a:avLst/>
          </a:prstGeom>
          <a:solidFill>
            <a:srgbClr val="1565C0"/>
          </a:solidFill>
          <a:ln/>
        </p:spPr>
      </p:sp>
      <p:sp>
        <p:nvSpPr>
          <p:cNvPr id="25" name="Shape 23"/>
          <p:cNvSpPr/>
          <p:nvPr/>
        </p:nvSpPr>
        <p:spPr>
          <a:xfrm>
            <a:off x="4873752" y="3419856"/>
            <a:ext cx="420624" cy="320040"/>
          </a:xfrm>
          <a:prstGeom prst="rect">
            <a:avLst/>
          </a:prstGeom>
          <a:solidFill>
            <a:srgbClr val="1565C0"/>
          </a:solidFill>
          <a:ln/>
        </p:spPr>
      </p:sp>
      <p:sp>
        <p:nvSpPr>
          <p:cNvPr id="26" name="Text 24"/>
          <p:cNvSpPr/>
          <p:nvPr/>
        </p:nvSpPr>
        <p:spPr>
          <a:xfrm>
            <a:off x="4873752" y="3419856"/>
            <a:ext cx="420624"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7" name="Text 25"/>
          <p:cNvSpPr/>
          <p:nvPr/>
        </p:nvSpPr>
        <p:spPr>
          <a:xfrm>
            <a:off x="5385816" y="3383280"/>
            <a:ext cx="3447288" cy="347472"/>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No Standardised PDF Export for Submission</a:t>
            </a:r>
            <a:endParaRPr lang="en-US" sz="1100" dirty="0"/>
          </a:p>
        </p:txBody>
      </p:sp>
      <p:sp>
        <p:nvSpPr>
          <p:cNvPr id="28" name="Text 26"/>
          <p:cNvSpPr/>
          <p:nvPr/>
        </p:nvSpPr>
        <p:spPr>
          <a:xfrm>
            <a:off x="4873752" y="3785616"/>
            <a:ext cx="3977640" cy="987552"/>
          </a:xfrm>
          <a:prstGeom prst="rect">
            <a:avLst/>
          </a:prstGeom>
          <a:noFill/>
          <a:ln/>
        </p:spPr>
        <p:txBody>
          <a:bodyPr wrap="square" lIns="25400" tIns="50800" rIns="50800" bIns="25400" rtlCol="0" anchor="ctr"/>
          <a:lstStyle/>
          <a:p>
            <a:pPr marL="0" indent="0" algn="just">
              <a:buNone/>
            </a:pPr>
            <a:r>
              <a:rPr lang="en-US" sz="950" dirty="0">
                <a:solidFill>
                  <a:srgbClr val="475569"/>
                </a:solidFill>
                <a:latin typeface="Calibri" pitchFamily="34" charset="0"/>
                <a:ea typeface="Calibri" pitchFamily="34" charset="-122"/>
                <a:cs typeface="Calibri" pitchFamily="34" charset="-120"/>
              </a:rPr>
              <a:t>When students or class representatives are required to submit the timetable in the institution's standard 9-period grid format, they must manually recreate it in Excel or Word. This is time-consuming, repetitive, and error-prone — especially when the schedule changes mid-semester.</a:t>
            </a:r>
            <a:endParaRPr lang="en-US" sz="95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565C0"/>
          </a:solidFill>
          <a:ln/>
        </p:spPr>
      </p:sp>
      <p:sp>
        <p:nvSpPr>
          <p:cNvPr id="3" name="Text 1"/>
          <p:cNvSpPr/>
          <p:nvPr/>
        </p:nvSpPr>
        <p:spPr>
          <a:xfrm>
            <a:off x="320040" y="0"/>
            <a:ext cx="8503920" cy="56692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Real-World Problem Description</a:t>
            </a:r>
            <a:endParaRPr lang="en-US" sz="2200" dirty="0"/>
          </a:p>
        </p:txBody>
      </p:sp>
      <p:sp>
        <p:nvSpPr>
          <p:cNvPr id="4" name="Text 2"/>
          <p:cNvSpPr/>
          <p:nvPr/>
        </p:nvSpPr>
        <p:spPr>
          <a:xfrm>
            <a:off x="228600" y="658368"/>
            <a:ext cx="8686800" cy="347472"/>
          </a:xfrm>
          <a:prstGeom prst="rect">
            <a:avLst/>
          </a:prstGeom>
          <a:noFill/>
          <a:ln/>
        </p:spPr>
        <p:txBody>
          <a:bodyPr wrap="square" lIns="25400" tIns="50800" rIns="50800" bIns="25400" rtlCol="0" anchor="ctr"/>
          <a:lstStyle/>
          <a:p>
            <a:pPr marL="0" indent="0" algn="just">
              <a:buNone/>
            </a:pPr>
            <a:r>
              <a:rPr lang="en-US" sz="1150" i="1" dirty="0">
                <a:solidFill>
                  <a:srgbClr val="475569"/>
                </a:solidFill>
                <a:latin typeface="Calibri" pitchFamily="34" charset="0"/>
                <a:ea typeface="Calibri" pitchFamily="34" charset="-122"/>
                <a:cs typeface="Calibri" pitchFamily="34" charset="-120"/>
              </a:rPr>
              <a:t>The following scenarios illustrate concretely how the identified problems manifest in real academic life and how SchedIQ resolves each one.</a:t>
            </a:r>
            <a:endParaRPr lang="en-US" sz="1150" dirty="0"/>
          </a:p>
        </p:txBody>
      </p:sp>
      <p:sp>
        <p:nvSpPr>
          <p:cNvPr id="5" name="Shape 3"/>
          <p:cNvSpPr/>
          <p:nvPr/>
        </p:nvSpPr>
        <p:spPr>
          <a:xfrm>
            <a:off x="228600" y="1060704"/>
            <a:ext cx="4251960" cy="1847088"/>
          </a:xfrm>
          <a:prstGeom prst="rect">
            <a:avLst/>
          </a:prstGeom>
          <a:solidFill>
            <a:srgbClr val="F0F7FF"/>
          </a:solidFill>
          <a:ln w="12700">
            <a:solidFill>
              <a:srgbClr val="CBD5E1"/>
            </a:solidFill>
            <a:prstDash val="solid"/>
          </a:ln>
        </p:spPr>
      </p:sp>
      <p:sp>
        <p:nvSpPr>
          <p:cNvPr id="6" name="Shape 4"/>
          <p:cNvSpPr/>
          <p:nvPr/>
        </p:nvSpPr>
        <p:spPr>
          <a:xfrm>
            <a:off x="228600" y="1060704"/>
            <a:ext cx="4251960" cy="310896"/>
          </a:xfrm>
          <a:prstGeom prst="rect">
            <a:avLst/>
          </a:prstGeom>
          <a:solidFill>
            <a:srgbClr val="EF4444"/>
          </a:solidFill>
          <a:ln/>
        </p:spPr>
      </p:sp>
      <p:sp>
        <p:nvSpPr>
          <p:cNvPr id="7" name="Text 5"/>
          <p:cNvSpPr/>
          <p:nvPr/>
        </p:nvSpPr>
        <p:spPr>
          <a:xfrm>
            <a:off x="338328" y="1078992"/>
            <a:ext cx="4087368"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Scenario A — The Overlap Problem</a:t>
            </a:r>
            <a:endParaRPr lang="en-US" sz="1050" dirty="0"/>
          </a:p>
        </p:txBody>
      </p:sp>
      <p:sp>
        <p:nvSpPr>
          <p:cNvPr id="8" name="Text 6"/>
          <p:cNvSpPr/>
          <p:nvPr/>
        </p:nvSpPr>
        <p:spPr>
          <a:xfrm>
            <a:off x="338328" y="1426464"/>
            <a:ext cx="4069080" cy="1417320"/>
          </a:xfrm>
          <a:prstGeom prst="rect">
            <a:avLst/>
          </a:prstGeom>
          <a:noFill/>
          <a:ln/>
        </p:spPr>
        <p:txBody>
          <a:bodyPr wrap="square" lIns="25400" tIns="50800" rIns="50800" bIns="25400" rtlCol="0" anchor="ctr"/>
          <a:lstStyle/>
          <a:p>
            <a:pPr marL="0" indent="0" algn="just">
              <a:buNone/>
            </a:pPr>
            <a:r>
              <a:rPr lang="en-US" sz="950" dirty="0">
                <a:solidFill>
                  <a:srgbClr val="475569"/>
                </a:solidFill>
                <a:latin typeface="Calibri" pitchFamily="34" charset="0"/>
                <a:ea typeface="Calibri" pitchFamily="34" charset="-122"/>
                <a:cs typeface="Calibri" pitchFamily="34" charset="-120"/>
              </a:rPr>
              <a:t>Ravi books Data Structures at 10:00 AM and accidentally adds Operating Systems to the same 10:00 AM slot on Monday. Without a conflict checker, both entries coexist silently in the schedule. SchedIQ prevents this by querying all existing entries for the same day and time range before saving — blocking the duplicate and surfacing a descriptive error message to the student.</a:t>
            </a:r>
            <a:endParaRPr lang="en-US" sz="950" dirty="0"/>
          </a:p>
        </p:txBody>
      </p:sp>
      <p:sp>
        <p:nvSpPr>
          <p:cNvPr id="9" name="Shape 7"/>
          <p:cNvSpPr/>
          <p:nvPr/>
        </p:nvSpPr>
        <p:spPr>
          <a:xfrm>
            <a:off x="4709160" y="1060704"/>
            <a:ext cx="4251960" cy="1847088"/>
          </a:xfrm>
          <a:prstGeom prst="rect">
            <a:avLst/>
          </a:prstGeom>
          <a:solidFill>
            <a:srgbClr val="F0F7FF"/>
          </a:solidFill>
          <a:ln w="12700">
            <a:solidFill>
              <a:srgbClr val="CBD5E1"/>
            </a:solidFill>
            <a:prstDash val="solid"/>
          </a:ln>
        </p:spPr>
      </p:sp>
      <p:sp>
        <p:nvSpPr>
          <p:cNvPr id="10" name="Shape 8"/>
          <p:cNvSpPr/>
          <p:nvPr/>
        </p:nvSpPr>
        <p:spPr>
          <a:xfrm>
            <a:off x="4709160" y="1060704"/>
            <a:ext cx="4251960" cy="310896"/>
          </a:xfrm>
          <a:prstGeom prst="rect">
            <a:avLst/>
          </a:prstGeom>
          <a:solidFill>
            <a:srgbClr val="F59E0B"/>
          </a:solidFill>
          <a:ln/>
        </p:spPr>
      </p:sp>
      <p:sp>
        <p:nvSpPr>
          <p:cNvPr id="11" name="Text 9"/>
          <p:cNvSpPr/>
          <p:nvPr/>
        </p:nvSpPr>
        <p:spPr>
          <a:xfrm>
            <a:off x="4818888" y="1078992"/>
            <a:ext cx="4087368"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Scenario B — The Attendance Crisis</a:t>
            </a:r>
            <a:endParaRPr lang="en-US" sz="1050" dirty="0"/>
          </a:p>
        </p:txBody>
      </p:sp>
      <p:sp>
        <p:nvSpPr>
          <p:cNvPr id="12" name="Text 10"/>
          <p:cNvSpPr/>
          <p:nvPr/>
        </p:nvSpPr>
        <p:spPr>
          <a:xfrm>
            <a:off x="4818888" y="1426464"/>
            <a:ext cx="4069080" cy="1417320"/>
          </a:xfrm>
          <a:prstGeom prst="rect">
            <a:avLst/>
          </a:prstGeom>
          <a:noFill/>
          <a:ln/>
        </p:spPr>
        <p:txBody>
          <a:bodyPr wrap="square" lIns="25400" tIns="50800" rIns="50800" bIns="25400" rtlCol="0" anchor="ctr"/>
          <a:lstStyle/>
          <a:p>
            <a:pPr marL="0" indent="0" algn="just">
              <a:buNone/>
            </a:pPr>
            <a:r>
              <a:rPr lang="en-US" sz="950" dirty="0">
                <a:solidFill>
                  <a:srgbClr val="475569"/>
                </a:solidFill>
                <a:latin typeface="Calibri" pitchFamily="34" charset="0"/>
                <a:ea typeface="Calibri" pitchFamily="34" charset="-122"/>
                <a:cs typeface="Calibri" pitchFamily="34" charset="-120"/>
              </a:rPr>
              <a:t>Priya has attended 27 of her 40 scheduled DBMS classes, placing her attendance at 67.5% — well below the mandatory 75%. She only discovers this when checking the official university portal in Week 14, with insufficient time remaining to recover. SchedIQ recalculates the attendance percentage after every mark and displays a colour-coded Danger alert the moment the threshold is breached, giving Priya an opportunity to act early.</a:t>
            </a:r>
            <a:endParaRPr lang="en-US" sz="950" dirty="0"/>
          </a:p>
        </p:txBody>
      </p:sp>
      <p:sp>
        <p:nvSpPr>
          <p:cNvPr id="13" name="Shape 11"/>
          <p:cNvSpPr/>
          <p:nvPr/>
        </p:nvSpPr>
        <p:spPr>
          <a:xfrm>
            <a:off x="228600" y="3072384"/>
            <a:ext cx="4251960" cy="1847088"/>
          </a:xfrm>
          <a:prstGeom prst="rect">
            <a:avLst/>
          </a:prstGeom>
          <a:solidFill>
            <a:srgbClr val="F0F7FF"/>
          </a:solidFill>
          <a:ln w="12700">
            <a:solidFill>
              <a:srgbClr val="CBD5E1"/>
            </a:solidFill>
            <a:prstDash val="solid"/>
          </a:ln>
        </p:spPr>
      </p:sp>
      <p:sp>
        <p:nvSpPr>
          <p:cNvPr id="14" name="Shape 12"/>
          <p:cNvSpPr/>
          <p:nvPr/>
        </p:nvSpPr>
        <p:spPr>
          <a:xfrm>
            <a:off x="228600" y="3072384"/>
            <a:ext cx="4251960" cy="310896"/>
          </a:xfrm>
          <a:prstGeom prst="rect">
            <a:avLst/>
          </a:prstGeom>
          <a:solidFill>
            <a:srgbClr val="7C3AED"/>
          </a:solidFill>
          <a:ln/>
        </p:spPr>
      </p:sp>
      <p:sp>
        <p:nvSpPr>
          <p:cNvPr id="15" name="Text 13"/>
          <p:cNvSpPr/>
          <p:nvPr/>
        </p:nvSpPr>
        <p:spPr>
          <a:xfrm>
            <a:off x="338328" y="3090672"/>
            <a:ext cx="4087368"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Scenario C — The Semester Transition</a:t>
            </a:r>
            <a:endParaRPr lang="en-US" sz="1050" dirty="0"/>
          </a:p>
        </p:txBody>
      </p:sp>
      <p:sp>
        <p:nvSpPr>
          <p:cNvPr id="16" name="Text 14"/>
          <p:cNvSpPr/>
          <p:nvPr/>
        </p:nvSpPr>
        <p:spPr>
          <a:xfrm>
            <a:off x="338328" y="3438144"/>
            <a:ext cx="4069080" cy="1417320"/>
          </a:xfrm>
          <a:prstGeom prst="rect">
            <a:avLst/>
          </a:prstGeom>
          <a:noFill/>
          <a:ln/>
        </p:spPr>
        <p:txBody>
          <a:bodyPr wrap="square" lIns="25400" tIns="50800" rIns="50800" bIns="25400" rtlCol="0" anchor="ctr"/>
          <a:lstStyle/>
          <a:p>
            <a:pPr marL="0" indent="0" algn="just">
              <a:buNone/>
            </a:pPr>
            <a:r>
              <a:rPr lang="en-US" sz="950" dirty="0">
                <a:solidFill>
                  <a:srgbClr val="475569"/>
                </a:solidFill>
                <a:latin typeface="Calibri" pitchFamily="34" charset="0"/>
                <a:ea typeface="Calibri" pitchFamily="34" charset="-122"/>
                <a:cs typeface="Calibri" pitchFamily="34" charset="-120"/>
              </a:rPr>
              <a:t>When a new semester begins in June, a student opens their scheduling app to find 30+ stale class entries from the previous semester. Deleting them one by one is tedious and prone to error. SchedIQ automatically tracks the date the timetable was first created. After 45 days, it prompts the user to clear all data in a single action, with an option to defer the reset by 7 days if the new semester has not yet commenced.</a:t>
            </a:r>
            <a:endParaRPr lang="en-US" sz="950" dirty="0"/>
          </a:p>
        </p:txBody>
      </p:sp>
      <p:sp>
        <p:nvSpPr>
          <p:cNvPr id="17" name="Shape 15"/>
          <p:cNvSpPr/>
          <p:nvPr/>
        </p:nvSpPr>
        <p:spPr>
          <a:xfrm>
            <a:off x="4709160" y="3072384"/>
            <a:ext cx="4251960" cy="1847088"/>
          </a:xfrm>
          <a:prstGeom prst="rect">
            <a:avLst/>
          </a:prstGeom>
          <a:solidFill>
            <a:srgbClr val="F0F7FF"/>
          </a:solidFill>
          <a:ln w="12700">
            <a:solidFill>
              <a:srgbClr val="CBD5E1"/>
            </a:solidFill>
            <a:prstDash val="solid"/>
          </a:ln>
        </p:spPr>
      </p:sp>
      <p:sp>
        <p:nvSpPr>
          <p:cNvPr id="18" name="Shape 16"/>
          <p:cNvSpPr/>
          <p:nvPr/>
        </p:nvSpPr>
        <p:spPr>
          <a:xfrm>
            <a:off x="4709160" y="3072384"/>
            <a:ext cx="4251960" cy="310896"/>
          </a:xfrm>
          <a:prstGeom prst="rect">
            <a:avLst/>
          </a:prstGeom>
          <a:solidFill>
            <a:srgbClr val="1565C0"/>
          </a:solidFill>
          <a:ln/>
        </p:spPr>
      </p:sp>
      <p:sp>
        <p:nvSpPr>
          <p:cNvPr id="19" name="Text 17"/>
          <p:cNvSpPr/>
          <p:nvPr/>
        </p:nvSpPr>
        <p:spPr>
          <a:xfrm>
            <a:off x="4818888" y="3090672"/>
            <a:ext cx="4087368"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Scenario D — The PDF Submission</a:t>
            </a:r>
            <a:endParaRPr lang="en-US" sz="1050" dirty="0"/>
          </a:p>
        </p:txBody>
      </p:sp>
      <p:sp>
        <p:nvSpPr>
          <p:cNvPr id="20" name="Text 18"/>
          <p:cNvSpPr/>
          <p:nvPr/>
        </p:nvSpPr>
        <p:spPr>
          <a:xfrm>
            <a:off x="4818888" y="3438144"/>
            <a:ext cx="4069080" cy="1417320"/>
          </a:xfrm>
          <a:prstGeom prst="rect">
            <a:avLst/>
          </a:prstGeom>
          <a:noFill/>
          <a:ln/>
        </p:spPr>
        <p:txBody>
          <a:bodyPr wrap="square" lIns="25400" tIns="50800" rIns="50800" bIns="25400" rtlCol="0" anchor="ctr"/>
          <a:lstStyle/>
          <a:p>
            <a:pPr marL="0" indent="0" algn="just">
              <a:buNone/>
            </a:pPr>
            <a:r>
              <a:rPr lang="en-US" sz="950" dirty="0">
                <a:solidFill>
                  <a:srgbClr val="475569"/>
                </a:solidFill>
                <a:latin typeface="Calibri" pitchFamily="34" charset="0"/>
                <a:ea typeface="Calibri" pitchFamily="34" charset="-122"/>
                <a:cs typeface="Calibri" pitchFamily="34" charset="-120"/>
              </a:rPr>
              <a:t>The Class Representative is asked by the Head of Department to submit the departmental timetable in the official 9-period landscape grid format. Ordinarily, this would require opening Excel, manually formatting the grid, and printing it. With SchedIQ, the CR taps Export PDF, and within seconds receives a properly formatted A4 landscape document — complete with day rows, nine time-slot columns from 8:00 AM to 4:50 PM, a Lunch column, and a subject legend table — ready to share via WhatsApp, email, or print.</a:t>
            </a:r>
            <a:endParaRPr lang="en-US" sz="9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565C0"/>
          </a:solidFill>
          <a:ln/>
        </p:spPr>
      </p:sp>
      <p:sp>
        <p:nvSpPr>
          <p:cNvPr id="3" name="Text 1"/>
          <p:cNvSpPr/>
          <p:nvPr/>
        </p:nvSpPr>
        <p:spPr>
          <a:xfrm>
            <a:off x="320040" y="0"/>
            <a:ext cx="8503920" cy="56692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Existing System / Model</a:t>
            </a:r>
            <a:endParaRPr lang="en-US" sz="2200" dirty="0"/>
          </a:p>
        </p:txBody>
      </p:sp>
      <p:sp>
        <p:nvSpPr>
          <p:cNvPr id="4" name="Text 2"/>
          <p:cNvSpPr/>
          <p:nvPr/>
        </p:nvSpPr>
        <p:spPr>
          <a:xfrm>
            <a:off x="228600" y="658368"/>
            <a:ext cx="8686800" cy="384048"/>
          </a:xfrm>
          <a:prstGeom prst="rect">
            <a:avLst/>
          </a:prstGeom>
          <a:noFill/>
          <a:ln/>
        </p:spPr>
        <p:txBody>
          <a:bodyPr wrap="square" lIns="25400" tIns="50800" rIns="50800" bIns="25400" rtlCol="0" anchor="ctr"/>
          <a:lstStyle/>
          <a:p>
            <a:pPr marL="0" indent="0" algn="just">
              <a:buNone/>
            </a:pPr>
            <a:r>
              <a:rPr lang="en-US" sz="1150" i="1" dirty="0">
                <a:solidFill>
                  <a:srgbClr val="475569"/>
                </a:solidFill>
                <a:latin typeface="Calibri" pitchFamily="34" charset="0"/>
                <a:ea typeface="Calibri" pitchFamily="34" charset="-122"/>
                <a:cs typeface="Calibri" pitchFamily="34" charset="-120"/>
              </a:rPr>
              <a:t>Before designing SchedIQ, a survey of tools currently used by students was conducted to understand their limitations and identify the gap this application must fill.</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28600" y="1097280"/>
          <a:ext cx="8412480" cy="3438144"/>
        </p:xfrm>
        <a:graphic>
          <a:graphicData uri="http://schemas.openxmlformats.org/drawingml/2006/table">
            <a:tbl>
              <a:tblPr/>
              <a:tblGrid>
                <a:gridCol w="1600200"/>
                <a:gridCol w="3611880"/>
                <a:gridCol w="640080"/>
                <a:gridCol w="640080"/>
                <a:gridCol w="640080"/>
                <a:gridCol w="640080"/>
                <a:gridCol w="640080"/>
              </a:tblGrid>
              <a:tr h="365760">
                <a:tc>
                  <a:txBody>
                    <a:bodyPr/>
                    <a:lstStyle/>
                    <a:p>
                      <a:pPr marL="0" indent="0">
                        <a:buNone/>
                      </a:pPr>
                      <a:r>
                        <a:rPr lang="en-US" sz="1100" b="1" dirty="0">
                          <a:solidFill>
                            <a:srgbClr val="FFFFFF"/>
                          </a:solidFill>
                        </a:rPr>
                        <a:t>Tool</a:t>
                      </a:r>
                      <a:endParaRPr lang="en-US" sz="11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1565C0"/>
                    </a:solidFill>
                  </a:tcPr>
                </a:tc>
                <a:tc>
                  <a:txBody>
                    <a:bodyPr/>
                    <a:lstStyle/>
                    <a:p>
                      <a:pPr marL="0" indent="0">
                        <a:buNone/>
                      </a:pPr>
                      <a:r>
                        <a:rPr lang="en-US" sz="1100" b="1" dirty="0">
                          <a:solidFill>
                            <a:srgbClr val="FFFFFF"/>
                          </a:solidFill>
                        </a:rPr>
                        <a:t>Limitation</a:t>
                      </a:r>
                      <a:endParaRPr lang="en-US" sz="11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1565C0"/>
                    </a:solidFill>
                  </a:tcPr>
                </a:tc>
                <a:tc>
                  <a:txBody>
                    <a:bodyPr/>
                    <a:lstStyle/>
                    <a:p>
                      <a:pPr marL="0" indent="0" algn="ctr">
                        <a:buNone/>
                      </a:pPr>
                      <a:r>
                        <a:rPr lang="en-US" sz="1000" b="1" dirty="0">
                          <a:solidFill>
                            <a:srgbClr val="FFFFFF"/>
                          </a:solidFill>
                        </a:rPr>
                        <a:t>Sched.</a:t>
                      </a:r>
                      <a:endParaRPr lang="en-US" sz="10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1565C0"/>
                    </a:solidFill>
                  </a:tcPr>
                </a:tc>
                <a:tc>
                  <a:txBody>
                    <a:bodyPr/>
                    <a:lstStyle/>
                    <a:p>
                      <a:pPr marL="0" indent="0" algn="ctr">
                        <a:buNone/>
                      </a:pPr>
                      <a:r>
                        <a:rPr lang="en-US" sz="1000" b="1" dirty="0">
                          <a:solidFill>
                            <a:srgbClr val="FFFFFF"/>
                          </a:solidFill>
                        </a:rPr>
                        <a:t>Attend.</a:t>
                      </a:r>
                      <a:endParaRPr lang="en-US" sz="10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1565C0"/>
                    </a:solidFill>
                  </a:tcPr>
                </a:tc>
                <a:tc>
                  <a:txBody>
                    <a:bodyPr/>
                    <a:lstStyle/>
                    <a:p>
                      <a:pPr marL="0" indent="0" algn="ctr">
                        <a:buNone/>
                      </a:pPr>
                      <a:r>
                        <a:rPr lang="en-US" sz="1000" b="1" dirty="0">
                          <a:solidFill>
                            <a:srgbClr val="FFFFFF"/>
                          </a:solidFill>
                        </a:rPr>
                        <a:t>PDF</a:t>
                      </a:r>
                      <a:endParaRPr lang="en-US" sz="10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1565C0"/>
                    </a:solidFill>
                  </a:tcPr>
                </a:tc>
                <a:tc>
                  <a:txBody>
                    <a:bodyPr/>
                    <a:lstStyle/>
                    <a:p>
                      <a:pPr marL="0" indent="0" algn="ctr">
                        <a:buNone/>
                      </a:pPr>
                      <a:r>
                        <a:rPr lang="en-US" sz="1000" b="1" dirty="0">
                          <a:solidFill>
                            <a:srgbClr val="FFFFFF"/>
                          </a:solidFill>
                        </a:rPr>
                        <a:t>Notif.</a:t>
                      </a:r>
                      <a:endParaRPr lang="en-US" sz="10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1565C0"/>
                    </a:solidFill>
                  </a:tcPr>
                </a:tc>
                <a:tc>
                  <a:txBody>
                    <a:bodyPr/>
                    <a:lstStyle/>
                    <a:p>
                      <a:pPr marL="0" indent="0" algn="ctr">
                        <a:buNone/>
                      </a:pPr>
                      <a:r>
                        <a:rPr lang="en-US" sz="1000" b="1" dirty="0">
                          <a:solidFill>
                            <a:srgbClr val="FFFFFF"/>
                          </a:solidFill>
                        </a:rPr>
                        <a:t>Offline</a:t>
                      </a:r>
                      <a:endParaRPr lang="en-US" sz="10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1565C0"/>
                    </a:solidFill>
                  </a:tcPr>
                </a:tc>
              </a:tr>
              <a:tr h="512064">
                <a:tc>
                  <a:txBody>
                    <a:bodyPr/>
                    <a:lstStyle/>
                    <a:p>
                      <a:pPr marL="0" indent="0">
                        <a:buNone/>
                      </a:pPr>
                      <a:r>
                        <a:rPr lang="en-US" sz="1000" dirty="0">
                          <a:solidFill>
                            <a:srgbClr val="000000"/>
                          </a:solidFill>
                        </a:rPr>
                        <a:t>Google Calendar</a:t>
                      </a:r>
                      <a:endParaRPr lang="en-US" sz="10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900" dirty="0">
                          <a:solidFill>
                            <a:srgbClr val="475569"/>
                          </a:solidFill>
                        </a:rPr>
                        <a:t>General-purpose; no academic context, no attendance tracking, requires internet and Google account.</a:t>
                      </a:r>
                      <a:endParaRPr lang="en-US" sz="9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c>
                  <a:txBody>
                    <a:bodyPr/>
                    <a:lstStyle/>
                    <a:p>
                      <a:pPr marL="0" indent="0" algn="ctr">
                        <a:buNone/>
                      </a:pPr>
                      <a:r>
                        <a:rPr lang="en-US" sz="1200" dirty="0">
                          <a:solidFill>
                            <a:srgbClr val="10B981"/>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c>
                  <a:txBody>
                    <a:bodyPr/>
                    <a:lstStyle/>
                    <a:p>
                      <a:pPr marL="0" indent="0" algn="ctr">
                        <a:buNone/>
                      </a:pPr>
                      <a:r>
                        <a:rPr lang="en-US" sz="1200" dirty="0">
                          <a:solidFill>
                            <a:srgbClr val="EF4444"/>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c>
                  <a:txBody>
                    <a:bodyPr/>
                    <a:lstStyle/>
                    <a:p>
                      <a:pPr marL="0" indent="0" algn="ctr">
                        <a:buNone/>
                      </a:pPr>
                      <a:r>
                        <a:rPr lang="en-US" sz="1200" dirty="0">
                          <a:solidFill>
                            <a:srgbClr val="EF4444"/>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c>
                  <a:txBody>
                    <a:bodyPr/>
                    <a:lstStyle/>
                    <a:p>
                      <a:pPr marL="0" indent="0" algn="ctr">
                        <a:buNone/>
                      </a:pPr>
                      <a:r>
                        <a:rPr lang="en-US" sz="1200" dirty="0">
                          <a:solidFill>
                            <a:srgbClr val="10B981"/>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c>
                  <a:txBody>
                    <a:bodyPr/>
                    <a:lstStyle/>
                    <a:p>
                      <a:pPr marL="0" indent="0" algn="ctr">
                        <a:buNone/>
                      </a:pPr>
                      <a:r>
                        <a:rPr lang="en-US" sz="1200" dirty="0">
                          <a:solidFill>
                            <a:srgbClr val="EF4444"/>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r>
              <a:tr h="512064">
                <a:tc>
                  <a:txBody>
                    <a:bodyPr/>
                    <a:lstStyle/>
                    <a:p>
                      <a:pPr marL="0" indent="0">
                        <a:buNone/>
                      </a:pPr>
                      <a:r>
                        <a:rPr lang="en-US" sz="1000" dirty="0">
                          <a:solidFill>
                            <a:srgbClr val="000000"/>
                          </a:solidFill>
                        </a:rPr>
                        <a:t>Paper Timetable</a:t>
                      </a:r>
                      <a:endParaRPr lang="en-US" sz="10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475569"/>
                          </a:solidFill>
                        </a:rPr>
                        <a:t>Cannot detect overlaps, calculate attendance, send notifications, or produce a digital export.</a:t>
                      </a:r>
                      <a:endParaRPr lang="en-US" sz="9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marL="0" indent="0" algn="ctr">
                        <a:buNone/>
                      </a:pPr>
                      <a:r>
                        <a:rPr lang="en-US" sz="1200" dirty="0">
                          <a:solidFill>
                            <a:srgbClr val="10B981"/>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marL="0" indent="0" algn="ctr">
                        <a:buNone/>
                      </a:pPr>
                      <a:r>
                        <a:rPr lang="en-US" sz="1200" dirty="0">
                          <a:solidFill>
                            <a:srgbClr val="EF4444"/>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marL="0" indent="0" algn="ctr">
                        <a:buNone/>
                      </a:pPr>
                      <a:r>
                        <a:rPr lang="en-US" sz="1200" dirty="0">
                          <a:solidFill>
                            <a:srgbClr val="EF4444"/>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marL="0" indent="0" algn="ctr">
                        <a:buNone/>
                      </a:pPr>
                      <a:r>
                        <a:rPr lang="en-US" sz="1200" dirty="0">
                          <a:solidFill>
                            <a:srgbClr val="EF4444"/>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marL="0" indent="0" algn="ctr">
                        <a:buNone/>
                      </a:pPr>
                      <a:r>
                        <a:rPr lang="en-US" sz="1200" dirty="0">
                          <a:solidFill>
                            <a:srgbClr val="10B981"/>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r h="512064">
                <a:tc>
                  <a:txBody>
                    <a:bodyPr/>
                    <a:lstStyle/>
                    <a:p>
                      <a:pPr marL="0" indent="0">
                        <a:buNone/>
                      </a:pPr>
                      <a:r>
                        <a:rPr lang="en-US" sz="1000" dirty="0">
                          <a:solidFill>
                            <a:srgbClr val="000000"/>
                          </a:solidFill>
                        </a:rPr>
                        <a:t>Excel / Google Sheets</a:t>
                      </a:r>
                      <a:endParaRPr lang="en-US" sz="10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900" dirty="0">
                          <a:solidFill>
                            <a:srgbClr val="475569"/>
                          </a:solidFill>
                        </a:rPr>
                        <a:t>No mobile interactivity, no notifications, no attendance logic, manual formatting required.</a:t>
                      </a:r>
                      <a:endParaRPr lang="en-US" sz="9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c>
                  <a:txBody>
                    <a:bodyPr/>
                    <a:lstStyle/>
                    <a:p>
                      <a:pPr marL="0" indent="0" algn="ctr">
                        <a:buNone/>
                      </a:pPr>
                      <a:r>
                        <a:rPr lang="en-US" sz="1200" dirty="0">
                          <a:solidFill>
                            <a:srgbClr val="10B981"/>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c>
                  <a:txBody>
                    <a:bodyPr/>
                    <a:lstStyle/>
                    <a:p>
                      <a:pPr marL="0" indent="0" algn="ctr">
                        <a:buNone/>
                      </a:pPr>
                      <a:r>
                        <a:rPr lang="en-US" sz="1200" dirty="0">
                          <a:solidFill>
                            <a:srgbClr val="EF4444"/>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c>
                  <a:txBody>
                    <a:bodyPr/>
                    <a:lstStyle/>
                    <a:p>
                      <a:pPr marL="0" indent="0" algn="ctr">
                        <a:buNone/>
                      </a:pPr>
                      <a:r>
                        <a:rPr lang="en-US" sz="1200" dirty="0">
                          <a:solidFill>
                            <a:srgbClr val="10B981"/>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c>
                  <a:txBody>
                    <a:bodyPr/>
                    <a:lstStyle/>
                    <a:p>
                      <a:pPr marL="0" indent="0" algn="ctr">
                        <a:buNone/>
                      </a:pPr>
                      <a:r>
                        <a:rPr lang="en-US" sz="1200" dirty="0">
                          <a:solidFill>
                            <a:srgbClr val="EF4444"/>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c>
                  <a:txBody>
                    <a:bodyPr/>
                    <a:lstStyle/>
                    <a:p>
                      <a:pPr marL="0" indent="0" algn="ctr">
                        <a:buNone/>
                      </a:pPr>
                      <a:r>
                        <a:rPr lang="en-US" sz="1200" dirty="0">
                          <a:solidFill>
                            <a:srgbClr val="10B981"/>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r>
              <a:tr h="512064">
                <a:tc>
                  <a:txBody>
                    <a:bodyPr/>
                    <a:lstStyle/>
                    <a:p>
                      <a:pPr marL="0" indent="0">
                        <a:buNone/>
                      </a:pPr>
                      <a:r>
                        <a:rPr lang="en-US" sz="1000" dirty="0">
                          <a:solidFill>
                            <a:srgbClr val="000000"/>
                          </a:solidFill>
                        </a:rPr>
                        <a:t>Reminder / To-Do Apps</a:t>
                      </a:r>
                      <a:endParaRPr lang="en-US" sz="10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475569"/>
                          </a:solidFill>
                        </a:rPr>
                        <a:t>Not linked to a structured timetable; no conflict detection, no attendance tracking, no PDF.</a:t>
                      </a:r>
                      <a:endParaRPr lang="en-US" sz="9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marL="0" indent="0" algn="ctr">
                        <a:buNone/>
                      </a:pPr>
                      <a:r>
                        <a:rPr lang="en-US" sz="1200" dirty="0">
                          <a:solidFill>
                            <a:srgbClr val="EF4444"/>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marL="0" indent="0" algn="ctr">
                        <a:buNone/>
                      </a:pPr>
                      <a:r>
                        <a:rPr lang="en-US" sz="1200" dirty="0">
                          <a:solidFill>
                            <a:srgbClr val="EF4444"/>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marL="0" indent="0" algn="ctr">
                        <a:buNone/>
                      </a:pPr>
                      <a:r>
                        <a:rPr lang="en-US" sz="1200" dirty="0">
                          <a:solidFill>
                            <a:srgbClr val="EF4444"/>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marL="0" indent="0" algn="ctr">
                        <a:buNone/>
                      </a:pPr>
                      <a:r>
                        <a:rPr lang="en-US" sz="1200" dirty="0">
                          <a:solidFill>
                            <a:srgbClr val="10B981"/>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marL="0" indent="0" algn="ctr">
                        <a:buNone/>
                      </a:pPr>
                      <a:r>
                        <a:rPr lang="en-US" sz="1200" dirty="0">
                          <a:solidFill>
                            <a:srgbClr val="10B981"/>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r h="512064">
                <a:tc>
                  <a:txBody>
                    <a:bodyPr/>
                    <a:lstStyle/>
                    <a:p>
                      <a:pPr marL="0" indent="0">
                        <a:buNone/>
                      </a:pPr>
                      <a:r>
                        <a:rPr lang="en-US" sz="1000" dirty="0">
                          <a:solidFill>
                            <a:srgbClr val="000000"/>
                          </a:solidFill>
                        </a:rPr>
                        <a:t>University ERP Portals</a:t>
                      </a:r>
                      <a:endParaRPr lang="en-US" sz="10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900" dirty="0">
                          <a:solidFill>
                            <a:srgbClr val="475569"/>
                          </a:solidFill>
                        </a:rPr>
                        <a:t>Read-only departmental view; no personal customisation, real-time attendance, or export capability.</a:t>
                      </a:r>
                      <a:endParaRPr lang="en-US" sz="9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c>
                  <a:txBody>
                    <a:bodyPr/>
                    <a:lstStyle/>
                    <a:p>
                      <a:pPr marL="0" indent="0" algn="ctr">
                        <a:buNone/>
                      </a:pPr>
                      <a:r>
                        <a:rPr lang="en-US" sz="1200" dirty="0">
                          <a:solidFill>
                            <a:srgbClr val="10B981"/>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c>
                  <a:txBody>
                    <a:bodyPr/>
                    <a:lstStyle/>
                    <a:p>
                      <a:pPr marL="0" indent="0" algn="ctr">
                        <a:buNone/>
                      </a:pPr>
                      <a:r>
                        <a:rPr lang="en-US" sz="1200" dirty="0">
                          <a:solidFill>
                            <a:srgbClr val="F59E0B"/>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c>
                  <a:txBody>
                    <a:bodyPr/>
                    <a:lstStyle/>
                    <a:p>
                      <a:pPr marL="0" indent="0" algn="ctr">
                        <a:buNone/>
                      </a:pPr>
                      <a:r>
                        <a:rPr lang="en-US" sz="1200" dirty="0">
                          <a:solidFill>
                            <a:srgbClr val="EF4444"/>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c>
                  <a:txBody>
                    <a:bodyPr/>
                    <a:lstStyle/>
                    <a:p>
                      <a:pPr marL="0" indent="0" algn="ctr">
                        <a:buNone/>
                      </a:pPr>
                      <a:r>
                        <a:rPr lang="en-US" sz="1200" dirty="0">
                          <a:solidFill>
                            <a:srgbClr val="EF4444"/>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c>
                  <a:txBody>
                    <a:bodyPr/>
                    <a:lstStyle/>
                    <a:p>
                      <a:pPr marL="0" indent="0" algn="ctr">
                        <a:buNone/>
                      </a:pPr>
                      <a:r>
                        <a:rPr lang="en-US" sz="1200" dirty="0">
                          <a:solidFill>
                            <a:srgbClr val="EF4444"/>
                          </a:solidFill>
                        </a:rPr>
                        <a:t>✘</a:t>
                      </a:r>
                      <a:endParaRPr lang="en-US" sz="12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F0F7FF"/>
                    </a:solidFill>
                  </a:tcPr>
                </a:tc>
              </a:tr>
              <a:tr h="512064">
                <a:tc>
                  <a:txBody>
                    <a:bodyPr/>
                    <a:lstStyle/>
                    <a:p>
                      <a:pPr marL="0" indent="0">
                        <a:buNone/>
                      </a:pPr>
                      <a:r>
                        <a:rPr lang="en-US" sz="1100" b="1" dirty="0">
                          <a:solidFill>
                            <a:srgbClr val="00B4D8"/>
                          </a:solidFill>
                        </a:rPr>
                        <a:t>SchedIQ ✦</a:t>
                      </a:r>
                      <a:endParaRPr lang="en-US" sz="11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900" b="1" dirty="0">
                          <a:solidFill>
                            <a:srgbClr val="90CAF9"/>
                          </a:solidFill>
                        </a:rPr>
                        <a:t>Dedicated offline-first academic tool combining all five capabilities in one application.</a:t>
                      </a:r>
                      <a:endParaRPr lang="en-US" sz="9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0A1628"/>
                    </a:solidFill>
                  </a:tcPr>
                </a:tc>
                <a:tc>
                  <a:txBody>
                    <a:bodyPr/>
                    <a:lstStyle/>
                    <a:p>
                      <a:pPr marL="0" indent="0" algn="ctr">
                        <a:buNone/>
                      </a:pPr>
                      <a:r>
                        <a:rPr lang="en-US" sz="1300" b="1" dirty="0">
                          <a:solidFill>
                            <a:srgbClr val="10B981"/>
                          </a:solidFill>
                        </a:rPr>
                        <a:t>✔</a:t>
                      </a:r>
                      <a:endParaRPr lang="en-US" sz="13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0A1628"/>
                    </a:solidFill>
                  </a:tcPr>
                </a:tc>
                <a:tc>
                  <a:txBody>
                    <a:bodyPr/>
                    <a:lstStyle/>
                    <a:p>
                      <a:pPr marL="0" indent="0" algn="ctr">
                        <a:buNone/>
                      </a:pPr>
                      <a:r>
                        <a:rPr lang="en-US" sz="1300" b="1" dirty="0">
                          <a:solidFill>
                            <a:srgbClr val="10B981"/>
                          </a:solidFill>
                        </a:rPr>
                        <a:t>✔</a:t>
                      </a:r>
                      <a:endParaRPr lang="en-US" sz="13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0A1628"/>
                    </a:solidFill>
                  </a:tcPr>
                </a:tc>
                <a:tc>
                  <a:txBody>
                    <a:bodyPr/>
                    <a:lstStyle/>
                    <a:p>
                      <a:pPr marL="0" indent="0" algn="ctr">
                        <a:buNone/>
                      </a:pPr>
                      <a:r>
                        <a:rPr lang="en-US" sz="1300" b="1" dirty="0">
                          <a:solidFill>
                            <a:srgbClr val="10B981"/>
                          </a:solidFill>
                        </a:rPr>
                        <a:t>✔</a:t>
                      </a:r>
                      <a:endParaRPr lang="en-US" sz="13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0A1628"/>
                    </a:solidFill>
                  </a:tcPr>
                </a:tc>
                <a:tc>
                  <a:txBody>
                    <a:bodyPr/>
                    <a:lstStyle/>
                    <a:p>
                      <a:pPr marL="0" indent="0" algn="ctr">
                        <a:buNone/>
                      </a:pPr>
                      <a:r>
                        <a:rPr lang="en-US" sz="1300" b="1" dirty="0">
                          <a:solidFill>
                            <a:srgbClr val="10B981"/>
                          </a:solidFill>
                        </a:rPr>
                        <a:t>✔</a:t>
                      </a:r>
                      <a:endParaRPr lang="en-US" sz="13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0A1628"/>
                    </a:solidFill>
                  </a:tcPr>
                </a:tc>
                <a:tc>
                  <a:txBody>
                    <a:bodyPr/>
                    <a:lstStyle/>
                    <a:p>
                      <a:pPr marL="0" indent="0" algn="ctr">
                        <a:buNone/>
                      </a:pPr>
                      <a:r>
                        <a:rPr lang="en-US" sz="1300" b="1" dirty="0">
                          <a:solidFill>
                            <a:srgbClr val="10B981"/>
                          </a:solidFill>
                        </a:rPr>
                        <a:t>✔</a:t>
                      </a:r>
                      <a:endParaRPr lang="en-US" sz="1300" dirty="0"/>
                    </a:p>
                  </a:txBody>
                  <a:tcPr>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solidFill>
                      <a:srgbClr val="0A1628"/>
                    </a:solidFill>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137"/>
          </a:solidFill>
          <a:ln/>
        </p:spPr>
      </p:sp>
      <p:sp>
        <p:nvSpPr>
          <p:cNvPr id="3" name="Text 1"/>
          <p:cNvSpPr/>
          <p:nvPr/>
        </p:nvSpPr>
        <p:spPr>
          <a:xfrm>
            <a:off x="320040" y="0"/>
            <a:ext cx="8503920" cy="56692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Proposed System / Model</a:t>
            </a:r>
            <a:endParaRPr lang="en-US" sz="2200" dirty="0"/>
          </a:p>
        </p:txBody>
      </p:sp>
      <p:sp>
        <p:nvSpPr>
          <p:cNvPr id="4" name="Shape 2"/>
          <p:cNvSpPr/>
          <p:nvPr/>
        </p:nvSpPr>
        <p:spPr>
          <a:xfrm>
            <a:off x="228600" y="658368"/>
            <a:ext cx="4251960" cy="2011680"/>
          </a:xfrm>
          <a:prstGeom prst="rect">
            <a:avLst/>
          </a:prstGeom>
          <a:solidFill>
            <a:srgbClr val="0D2137"/>
          </a:solidFill>
          <a:ln w="12700">
            <a:solidFill>
              <a:srgbClr val="1E3A5F"/>
            </a:solidFill>
            <a:prstDash val="solid"/>
          </a:ln>
        </p:spPr>
      </p:sp>
      <p:sp>
        <p:nvSpPr>
          <p:cNvPr id="5" name="Shape 3"/>
          <p:cNvSpPr/>
          <p:nvPr/>
        </p:nvSpPr>
        <p:spPr>
          <a:xfrm>
            <a:off x="228600" y="658368"/>
            <a:ext cx="4251960" cy="320040"/>
          </a:xfrm>
          <a:prstGeom prst="rect">
            <a:avLst/>
          </a:prstGeom>
          <a:solidFill>
            <a:srgbClr val="00B4D8"/>
          </a:solidFill>
          <a:ln/>
        </p:spPr>
      </p:sp>
      <p:sp>
        <p:nvSpPr>
          <p:cNvPr id="6" name="Text 4"/>
          <p:cNvSpPr/>
          <p:nvPr/>
        </p:nvSpPr>
        <p:spPr>
          <a:xfrm>
            <a:off x="338328" y="685800"/>
            <a:ext cx="4087368" cy="27432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UI Layer</a:t>
            </a:r>
            <a:endParaRPr lang="en-US" sz="1100" dirty="0"/>
          </a:p>
        </p:txBody>
      </p:sp>
      <p:sp>
        <p:nvSpPr>
          <p:cNvPr id="7" name="Text 5"/>
          <p:cNvSpPr/>
          <p:nvPr/>
        </p:nvSpPr>
        <p:spPr>
          <a:xfrm>
            <a:off x="338328" y="1042416"/>
            <a:ext cx="4069080" cy="1536192"/>
          </a:xfrm>
          <a:prstGeom prst="rect">
            <a:avLst/>
          </a:prstGeom>
          <a:noFill/>
          <a:ln/>
        </p:spPr>
        <p:txBody>
          <a:bodyPr wrap="square" lIns="25400" tIns="50800" rIns="50800" bIns="25400" rtlCol="0" anchor="ctr"/>
          <a:lstStyle/>
          <a:p>
            <a:pPr marL="0" indent="0" algn="just">
              <a:buNone/>
            </a:pPr>
            <a:r>
              <a:rPr lang="en-US" sz="980" dirty="0">
                <a:solidFill>
                  <a:srgbClr val="CBD5E1"/>
                </a:solidFill>
                <a:latin typeface="Calibri" pitchFamily="34" charset="0"/>
                <a:ea typeface="Calibri" pitchFamily="34" charset="-122"/>
                <a:cs typeface="Calibri" pitchFamily="34" charset="-120"/>
              </a:rPr>
              <a:t>The interface is built on Flutter's Material 3 design system and supports both light and dark themes. Key screens include: Onboarding (first launch only), Home (today's timetable), full week Timetable view, Add/Edit Class form, Attendance summary, Settings, Holiday manager, and an About screen.</a:t>
            </a:r>
            <a:endParaRPr lang="en-US" sz="980" dirty="0"/>
          </a:p>
        </p:txBody>
      </p:sp>
      <p:sp>
        <p:nvSpPr>
          <p:cNvPr id="8" name="Shape 6"/>
          <p:cNvSpPr/>
          <p:nvPr/>
        </p:nvSpPr>
        <p:spPr>
          <a:xfrm>
            <a:off x="4709160" y="658368"/>
            <a:ext cx="4251960" cy="2011680"/>
          </a:xfrm>
          <a:prstGeom prst="rect">
            <a:avLst/>
          </a:prstGeom>
          <a:solidFill>
            <a:srgbClr val="0D2137"/>
          </a:solidFill>
          <a:ln w="12700">
            <a:solidFill>
              <a:srgbClr val="1E3A5F"/>
            </a:solidFill>
            <a:prstDash val="solid"/>
          </a:ln>
        </p:spPr>
      </p:sp>
      <p:sp>
        <p:nvSpPr>
          <p:cNvPr id="9" name="Shape 7"/>
          <p:cNvSpPr/>
          <p:nvPr/>
        </p:nvSpPr>
        <p:spPr>
          <a:xfrm>
            <a:off x="4709160" y="658368"/>
            <a:ext cx="4251960" cy="320040"/>
          </a:xfrm>
          <a:prstGeom prst="rect">
            <a:avLst/>
          </a:prstGeom>
          <a:solidFill>
            <a:srgbClr val="10B981"/>
          </a:solidFill>
          <a:ln/>
        </p:spPr>
      </p:sp>
      <p:sp>
        <p:nvSpPr>
          <p:cNvPr id="10" name="Text 8"/>
          <p:cNvSpPr/>
          <p:nvPr/>
        </p:nvSpPr>
        <p:spPr>
          <a:xfrm>
            <a:off x="4818888" y="685800"/>
            <a:ext cx="4087368" cy="27432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State Management Layer</a:t>
            </a:r>
            <a:endParaRPr lang="en-US" sz="1100" dirty="0"/>
          </a:p>
        </p:txBody>
      </p:sp>
      <p:sp>
        <p:nvSpPr>
          <p:cNvPr id="11" name="Text 9"/>
          <p:cNvSpPr/>
          <p:nvPr/>
        </p:nvSpPr>
        <p:spPr>
          <a:xfrm>
            <a:off x="4818888" y="1042416"/>
            <a:ext cx="4069080" cy="1536192"/>
          </a:xfrm>
          <a:prstGeom prst="rect">
            <a:avLst/>
          </a:prstGeom>
          <a:noFill/>
          <a:ln/>
        </p:spPr>
        <p:txBody>
          <a:bodyPr wrap="square" lIns="25400" tIns="50800" rIns="50800" bIns="25400" rtlCol="0" anchor="ctr"/>
          <a:lstStyle/>
          <a:p>
            <a:pPr marL="0" indent="0" algn="just">
              <a:buNone/>
            </a:pPr>
            <a:r>
              <a:rPr lang="en-US" sz="980" dirty="0">
                <a:solidFill>
                  <a:srgbClr val="CBD5E1"/>
                </a:solidFill>
                <a:latin typeface="Calibri" pitchFamily="34" charset="0"/>
                <a:ea typeface="Calibri" pitchFamily="34" charset="-122"/>
                <a:cs typeface="Calibri" pitchFamily="34" charset="-120"/>
              </a:rPr>
              <a:t>Six Provider classes manage reactive application state: TimetableProvider handles V1-compatible class entries; AppProvider orchestrates all data loads at startup; SubjectProvider manages the subject master list; AttendanceProvider computes per-subject percentages; HolidayProvider tracks non-working days; and SettingsProvider persists dark mode, working days, attendance thresholds, and the 45-day semester timestamp.</a:t>
            </a:r>
            <a:endParaRPr lang="en-US" sz="980" dirty="0"/>
          </a:p>
        </p:txBody>
      </p:sp>
      <p:sp>
        <p:nvSpPr>
          <p:cNvPr id="12" name="Shape 10"/>
          <p:cNvSpPr/>
          <p:nvPr/>
        </p:nvSpPr>
        <p:spPr>
          <a:xfrm>
            <a:off x="228600" y="2834640"/>
            <a:ext cx="4251960" cy="2011680"/>
          </a:xfrm>
          <a:prstGeom prst="rect">
            <a:avLst/>
          </a:prstGeom>
          <a:solidFill>
            <a:srgbClr val="0D2137"/>
          </a:solidFill>
          <a:ln w="12700">
            <a:solidFill>
              <a:srgbClr val="1E3A5F"/>
            </a:solidFill>
            <a:prstDash val="solid"/>
          </a:ln>
        </p:spPr>
      </p:sp>
      <p:sp>
        <p:nvSpPr>
          <p:cNvPr id="13" name="Shape 11"/>
          <p:cNvSpPr/>
          <p:nvPr/>
        </p:nvSpPr>
        <p:spPr>
          <a:xfrm>
            <a:off x="228600" y="2834640"/>
            <a:ext cx="4251960" cy="320040"/>
          </a:xfrm>
          <a:prstGeom prst="rect">
            <a:avLst/>
          </a:prstGeom>
          <a:solidFill>
            <a:srgbClr val="F59E0B"/>
          </a:solidFill>
          <a:ln/>
        </p:spPr>
      </p:sp>
      <p:sp>
        <p:nvSpPr>
          <p:cNvPr id="14" name="Text 12"/>
          <p:cNvSpPr/>
          <p:nvPr/>
        </p:nvSpPr>
        <p:spPr>
          <a:xfrm>
            <a:off x="338328" y="2862072"/>
            <a:ext cx="4087368" cy="27432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Data Layer — SQLite via sqflite</a:t>
            </a:r>
            <a:endParaRPr lang="en-US" sz="1100" dirty="0"/>
          </a:p>
        </p:txBody>
      </p:sp>
      <p:sp>
        <p:nvSpPr>
          <p:cNvPr id="15" name="Text 13"/>
          <p:cNvSpPr/>
          <p:nvPr/>
        </p:nvSpPr>
        <p:spPr>
          <a:xfrm>
            <a:off x="338328" y="3218688"/>
            <a:ext cx="4069080" cy="1536192"/>
          </a:xfrm>
          <a:prstGeom prst="rect">
            <a:avLst/>
          </a:prstGeom>
          <a:noFill/>
          <a:ln/>
        </p:spPr>
        <p:txBody>
          <a:bodyPr wrap="square" lIns="25400" tIns="50800" rIns="50800" bIns="25400" rtlCol="0" anchor="ctr"/>
          <a:lstStyle/>
          <a:p>
            <a:pPr marL="0" indent="0" algn="just">
              <a:buNone/>
            </a:pPr>
            <a:r>
              <a:rPr lang="en-US" sz="980" dirty="0">
                <a:solidFill>
                  <a:srgbClr val="CBD5E1"/>
                </a:solidFill>
                <a:latin typeface="Calibri" pitchFamily="34" charset="0"/>
                <a:ea typeface="Calibri" pitchFamily="34" charset="-122"/>
                <a:cs typeface="Calibri" pitchFamily="34" charset="-120"/>
              </a:rPr>
              <a:t>DatabaseHelperV2 maintains a relational schema with four tables: class_entries (day, time, subject, location, faculty), subjects (code, name, faculty), attendance_records (linked to class entries), and day_statuses (holiday or working-day flags). A RegEx-based fallback parser ensures backward-compatible reading of legacy V1 time strings.</a:t>
            </a:r>
            <a:endParaRPr lang="en-US" sz="980" dirty="0"/>
          </a:p>
        </p:txBody>
      </p:sp>
      <p:sp>
        <p:nvSpPr>
          <p:cNvPr id="16" name="Shape 14"/>
          <p:cNvSpPr/>
          <p:nvPr/>
        </p:nvSpPr>
        <p:spPr>
          <a:xfrm>
            <a:off x="4709160" y="2834640"/>
            <a:ext cx="4251960" cy="2011680"/>
          </a:xfrm>
          <a:prstGeom prst="rect">
            <a:avLst/>
          </a:prstGeom>
          <a:solidFill>
            <a:srgbClr val="0D2137"/>
          </a:solidFill>
          <a:ln w="12700">
            <a:solidFill>
              <a:srgbClr val="1E3A5F"/>
            </a:solidFill>
            <a:prstDash val="solid"/>
          </a:ln>
        </p:spPr>
      </p:sp>
      <p:sp>
        <p:nvSpPr>
          <p:cNvPr id="17" name="Shape 15"/>
          <p:cNvSpPr/>
          <p:nvPr/>
        </p:nvSpPr>
        <p:spPr>
          <a:xfrm>
            <a:off x="4709160" y="2834640"/>
            <a:ext cx="4251960" cy="320040"/>
          </a:xfrm>
          <a:prstGeom prst="rect">
            <a:avLst/>
          </a:prstGeom>
          <a:solidFill>
            <a:srgbClr val="7C3AED"/>
          </a:solidFill>
          <a:ln/>
        </p:spPr>
      </p:sp>
      <p:sp>
        <p:nvSpPr>
          <p:cNvPr id="18" name="Text 16"/>
          <p:cNvSpPr/>
          <p:nvPr/>
        </p:nvSpPr>
        <p:spPr>
          <a:xfrm>
            <a:off x="4818888" y="2862072"/>
            <a:ext cx="4087368" cy="27432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Service Layer</a:t>
            </a:r>
            <a:endParaRPr lang="en-US" sz="1100" dirty="0"/>
          </a:p>
        </p:txBody>
      </p:sp>
      <p:sp>
        <p:nvSpPr>
          <p:cNvPr id="19" name="Text 17"/>
          <p:cNvSpPr/>
          <p:nvPr/>
        </p:nvSpPr>
        <p:spPr>
          <a:xfrm>
            <a:off x="4818888" y="3218688"/>
            <a:ext cx="4069080" cy="1536192"/>
          </a:xfrm>
          <a:prstGeom prst="rect">
            <a:avLst/>
          </a:prstGeom>
          <a:noFill/>
          <a:ln/>
        </p:spPr>
        <p:txBody>
          <a:bodyPr wrap="square" lIns="25400" tIns="50800" rIns="50800" bIns="25400" rtlCol="0" anchor="ctr"/>
          <a:lstStyle/>
          <a:p>
            <a:pPr marL="0" indent="0" algn="just">
              <a:buNone/>
            </a:pPr>
            <a:r>
              <a:rPr lang="en-US" sz="980" dirty="0">
                <a:solidFill>
                  <a:srgbClr val="CBD5E1"/>
                </a:solidFill>
                <a:latin typeface="Calibri" pitchFamily="34" charset="0"/>
                <a:ea typeface="Calibri" pitchFamily="34" charset="-122"/>
                <a:cs typeface="Calibri" pitchFamily="34" charset="-120"/>
              </a:rPr>
              <a:t>Three dedicated service classes sit beneath the database: NotificationServiceV2 schedules and reschedules class reminders using flutter_local_notifications; PdfService uses the pdf and printing plugins to generate the 9-slot landscape academic grid; and PreferencesService wraps shared_preferences for all persistent configuration. The entire stack operates fully offline with no cloud dependency whatsoever.</a:t>
            </a:r>
            <a:endParaRPr lang="en-US" sz="980" dirty="0"/>
          </a:p>
        </p:txBody>
      </p:sp>
      <p:sp>
        <p:nvSpPr>
          <p:cNvPr id="20" name="Shape 18"/>
          <p:cNvSpPr/>
          <p:nvPr/>
        </p:nvSpPr>
        <p:spPr>
          <a:xfrm>
            <a:off x="4361688" y="1417320"/>
            <a:ext cx="420624" cy="45720"/>
          </a:xfrm>
          <a:prstGeom prst="rect">
            <a:avLst/>
          </a:prstGeom>
          <a:solidFill>
            <a:srgbClr val="00B4D8"/>
          </a:solidFill>
          <a:ln/>
        </p:spPr>
      </p:sp>
      <p:sp>
        <p:nvSpPr>
          <p:cNvPr id="21" name="Shape 19"/>
          <p:cNvSpPr/>
          <p:nvPr/>
        </p:nvSpPr>
        <p:spPr>
          <a:xfrm>
            <a:off x="4361688" y="3593592"/>
            <a:ext cx="420624" cy="45720"/>
          </a:xfrm>
          <a:prstGeom prst="rect">
            <a:avLst/>
          </a:prstGeom>
          <a:solidFill>
            <a:srgbClr val="00B4D8"/>
          </a:solidFill>
          <a:ln/>
        </p:spPr>
      </p:sp>
      <p:sp>
        <p:nvSpPr>
          <p:cNvPr id="22" name="Text 20"/>
          <p:cNvSpPr/>
          <p:nvPr/>
        </p:nvSpPr>
        <p:spPr>
          <a:xfrm>
            <a:off x="4325112" y="1307592"/>
            <a:ext cx="502920" cy="256032"/>
          </a:xfrm>
          <a:prstGeom prst="rect">
            <a:avLst/>
          </a:prstGeom>
          <a:noFill/>
          <a:ln/>
        </p:spPr>
        <p:txBody>
          <a:bodyPr wrap="square" lIns="0" tIns="0" rIns="0" bIns="0" rtlCol="0" anchor="ctr"/>
          <a:lstStyle/>
          <a:p>
            <a:pPr marL="0" indent="0" algn="ctr">
              <a:buNone/>
            </a:pPr>
            <a:r>
              <a:rPr lang="en-US" sz="1000" dirty="0">
                <a:solidFill>
                  <a:srgbClr val="00B4D8"/>
                </a:solidFill>
              </a:rPr>
              <a:t>▶</a:t>
            </a:r>
            <a:endParaRPr lang="en-US" sz="1000" dirty="0"/>
          </a:p>
        </p:txBody>
      </p:sp>
      <p:sp>
        <p:nvSpPr>
          <p:cNvPr id="23" name="Text 21"/>
          <p:cNvSpPr/>
          <p:nvPr/>
        </p:nvSpPr>
        <p:spPr>
          <a:xfrm>
            <a:off x="4325112" y="3474720"/>
            <a:ext cx="502920" cy="256032"/>
          </a:xfrm>
          <a:prstGeom prst="rect">
            <a:avLst/>
          </a:prstGeom>
          <a:noFill/>
          <a:ln/>
        </p:spPr>
        <p:txBody>
          <a:bodyPr wrap="square" lIns="0" tIns="0" rIns="0" bIns="0" rtlCol="0" anchor="ctr"/>
          <a:lstStyle/>
          <a:p>
            <a:pPr marL="0" indent="0" algn="ctr">
              <a:buNone/>
            </a:pPr>
            <a:r>
              <a:rPr lang="en-US" sz="1000" dirty="0">
                <a:solidFill>
                  <a:srgbClr val="00B4D8"/>
                </a:solidFill>
              </a:rPr>
              <a:t>▶</a:t>
            </a:r>
            <a:endParaRPr lang="en-US" sz="10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565C0"/>
          </a:solidFill>
          <a:ln/>
        </p:spPr>
      </p:sp>
      <p:sp>
        <p:nvSpPr>
          <p:cNvPr id="3" name="Text 1"/>
          <p:cNvSpPr/>
          <p:nvPr/>
        </p:nvSpPr>
        <p:spPr>
          <a:xfrm>
            <a:off x="320040" y="0"/>
            <a:ext cx="8503920" cy="56692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Research Gap</a:t>
            </a:r>
            <a:endParaRPr lang="en-US" sz="2200" dirty="0"/>
          </a:p>
        </p:txBody>
      </p:sp>
      <p:sp>
        <p:nvSpPr>
          <p:cNvPr id="4" name="Text 2"/>
          <p:cNvSpPr/>
          <p:nvPr/>
        </p:nvSpPr>
        <p:spPr>
          <a:xfrm>
            <a:off x="228600" y="658368"/>
            <a:ext cx="8686800" cy="365760"/>
          </a:xfrm>
          <a:prstGeom prst="rect">
            <a:avLst/>
          </a:prstGeom>
          <a:noFill/>
          <a:ln/>
        </p:spPr>
        <p:txBody>
          <a:bodyPr wrap="square" lIns="25400" tIns="50800" rIns="50800" bIns="25400" rtlCol="0" anchor="ctr"/>
          <a:lstStyle/>
          <a:p>
            <a:pPr marL="0" indent="0" algn="just">
              <a:buNone/>
            </a:pPr>
            <a:r>
              <a:rPr lang="en-US" sz="1150" i="1" dirty="0">
                <a:solidFill>
                  <a:srgbClr val="475569"/>
                </a:solidFill>
                <a:latin typeface="Calibri" pitchFamily="34" charset="0"/>
                <a:ea typeface="Calibri" pitchFamily="34" charset="-122"/>
                <a:cs typeface="Calibri" pitchFamily="34" charset="-120"/>
              </a:rPr>
              <a:t>A literature survey of existing mobile scheduling and attendance tools reveals five distinct and unaddressed gaps that motivated the development of SchedIQ.</a:t>
            </a:r>
            <a:endParaRPr lang="en-US" sz="1150" dirty="0"/>
          </a:p>
        </p:txBody>
      </p:sp>
      <p:sp>
        <p:nvSpPr>
          <p:cNvPr id="5" name="Shape 3"/>
          <p:cNvSpPr/>
          <p:nvPr/>
        </p:nvSpPr>
        <p:spPr>
          <a:xfrm>
            <a:off x="228600" y="1078992"/>
            <a:ext cx="4251960" cy="1188720"/>
          </a:xfrm>
          <a:prstGeom prst="rect">
            <a:avLst/>
          </a:prstGeom>
          <a:solidFill>
            <a:srgbClr val="F0F7FF"/>
          </a:solidFill>
          <a:ln w="12700">
            <a:solidFill>
              <a:srgbClr val="CBD5E1"/>
            </a:solidFill>
            <a:prstDash val="solid"/>
          </a:ln>
        </p:spPr>
      </p:sp>
      <p:sp>
        <p:nvSpPr>
          <p:cNvPr id="6" name="Shape 4"/>
          <p:cNvSpPr/>
          <p:nvPr/>
        </p:nvSpPr>
        <p:spPr>
          <a:xfrm>
            <a:off x="228600" y="1078992"/>
            <a:ext cx="64008" cy="1188720"/>
          </a:xfrm>
          <a:prstGeom prst="rect">
            <a:avLst/>
          </a:prstGeom>
          <a:solidFill>
            <a:srgbClr val="EF4444"/>
          </a:solidFill>
          <a:ln/>
        </p:spPr>
      </p:sp>
      <p:sp>
        <p:nvSpPr>
          <p:cNvPr id="7" name="Shape 5"/>
          <p:cNvSpPr/>
          <p:nvPr/>
        </p:nvSpPr>
        <p:spPr>
          <a:xfrm>
            <a:off x="374904" y="1170432"/>
            <a:ext cx="475488" cy="292608"/>
          </a:xfrm>
          <a:prstGeom prst="rect">
            <a:avLst/>
          </a:prstGeom>
          <a:solidFill>
            <a:srgbClr val="EF4444"/>
          </a:solidFill>
          <a:ln/>
        </p:spPr>
      </p:sp>
      <p:sp>
        <p:nvSpPr>
          <p:cNvPr id="8" name="Text 6"/>
          <p:cNvSpPr/>
          <p:nvPr/>
        </p:nvSpPr>
        <p:spPr>
          <a:xfrm>
            <a:off x="374904" y="1170432"/>
            <a:ext cx="47548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Gap 1</a:t>
            </a:r>
            <a:endParaRPr lang="en-US" sz="900" dirty="0"/>
          </a:p>
        </p:txBody>
      </p:sp>
      <p:sp>
        <p:nvSpPr>
          <p:cNvPr id="9" name="Text 7"/>
          <p:cNvSpPr/>
          <p:nvPr/>
        </p:nvSpPr>
        <p:spPr>
          <a:xfrm>
            <a:off x="941832" y="1152144"/>
            <a:ext cx="3429000"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No Unified Academic Scheduling Solution</a:t>
            </a:r>
            <a:endParaRPr lang="en-US" sz="1050" dirty="0"/>
          </a:p>
        </p:txBody>
      </p:sp>
      <p:sp>
        <p:nvSpPr>
          <p:cNvPr id="10" name="Text 8"/>
          <p:cNvSpPr/>
          <p:nvPr/>
        </p:nvSpPr>
        <p:spPr>
          <a:xfrm>
            <a:off x="374904" y="1499616"/>
            <a:ext cx="4014216" cy="713232"/>
          </a:xfrm>
          <a:prstGeom prst="rect">
            <a:avLst/>
          </a:prstGeom>
          <a:noFill/>
          <a:ln/>
        </p:spPr>
        <p:txBody>
          <a:bodyPr wrap="square" lIns="25400" tIns="38100" rIns="38100" bIns="25400" rtlCol="0" anchor="ctr"/>
          <a:lstStyle/>
          <a:p>
            <a:pPr marL="0" indent="0" algn="just">
              <a:buNone/>
            </a:pPr>
            <a:r>
              <a:rPr lang="en-US" sz="920" dirty="0">
                <a:solidFill>
                  <a:srgbClr val="475569"/>
                </a:solidFill>
                <a:latin typeface="Calibri" pitchFamily="34" charset="0"/>
                <a:ea typeface="Calibri" pitchFamily="34" charset="-122"/>
                <a:cs typeface="Calibri" pitchFamily="34" charset="-120"/>
              </a:rPr>
              <a:t>Existing mobile applications handle either scheduling or attendance tracking in isolation, but none integrates both with smart conflict detection, configurable attendance thresholds, and PDF export into a single lightweight offline tool designed for engineering students.</a:t>
            </a:r>
            <a:endParaRPr lang="en-US" sz="920" dirty="0"/>
          </a:p>
        </p:txBody>
      </p:sp>
      <p:sp>
        <p:nvSpPr>
          <p:cNvPr id="11" name="Shape 9"/>
          <p:cNvSpPr/>
          <p:nvPr/>
        </p:nvSpPr>
        <p:spPr>
          <a:xfrm>
            <a:off x="228600" y="2432304"/>
            <a:ext cx="4251960" cy="1188720"/>
          </a:xfrm>
          <a:prstGeom prst="rect">
            <a:avLst/>
          </a:prstGeom>
          <a:solidFill>
            <a:srgbClr val="F0F7FF"/>
          </a:solidFill>
          <a:ln w="12700">
            <a:solidFill>
              <a:srgbClr val="CBD5E1"/>
            </a:solidFill>
            <a:prstDash val="solid"/>
          </a:ln>
        </p:spPr>
      </p:sp>
      <p:sp>
        <p:nvSpPr>
          <p:cNvPr id="12" name="Shape 10"/>
          <p:cNvSpPr/>
          <p:nvPr/>
        </p:nvSpPr>
        <p:spPr>
          <a:xfrm>
            <a:off x="228600" y="2432304"/>
            <a:ext cx="64008" cy="1188720"/>
          </a:xfrm>
          <a:prstGeom prst="rect">
            <a:avLst/>
          </a:prstGeom>
          <a:solidFill>
            <a:srgbClr val="F59E0B"/>
          </a:solidFill>
          <a:ln/>
        </p:spPr>
      </p:sp>
      <p:sp>
        <p:nvSpPr>
          <p:cNvPr id="13" name="Shape 11"/>
          <p:cNvSpPr/>
          <p:nvPr/>
        </p:nvSpPr>
        <p:spPr>
          <a:xfrm>
            <a:off x="374904" y="2523744"/>
            <a:ext cx="475488" cy="292608"/>
          </a:xfrm>
          <a:prstGeom prst="rect">
            <a:avLst/>
          </a:prstGeom>
          <a:solidFill>
            <a:srgbClr val="F59E0B"/>
          </a:solidFill>
          <a:ln/>
        </p:spPr>
      </p:sp>
      <p:sp>
        <p:nvSpPr>
          <p:cNvPr id="14" name="Text 12"/>
          <p:cNvSpPr/>
          <p:nvPr/>
        </p:nvSpPr>
        <p:spPr>
          <a:xfrm>
            <a:off x="374904" y="2523744"/>
            <a:ext cx="47548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Gap 2</a:t>
            </a:r>
            <a:endParaRPr lang="en-US" sz="900" dirty="0"/>
          </a:p>
        </p:txBody>
      </p:sp>
      <p:sp>
        <p:nvSpPr>
          <p:cNvPr id="15" name="Text 13"/>
          <p:cNvSpPr/>
          <p:nvPr/>
        </p:nvSpPr>
        <p:spPr>
          <a:xfrm>
            <a:off x="941832" y="2505456"/>
            <a:ext cx="3429000"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Cloud Dependency in Comparable Apps</a:t>
            </a:r>
            <a:endParaRPr lang="en-US" sz="1050" dirty="0"/>
          </a:p>
        </p:txBody>
      </p:sp>
      <p:sp>
        <p:nvSpPr>
          <p:cNvPr id="16" name="Text 14"/>
          <p:cNvSpPr/>
          <p:nvPr/>
        </p:nvSpPr>
        <p:spPr>
          <a:xfrm>
            <a:off x="374904" y="2852928"/>
            <a:ext cx="4014216" cy="713232"/>
          </a:xfrm>
          <a:prstGeom prst="rect">
            <a:avLst/>
          </a:prstGeom>
          <a:noFill/>
          <a:ln/>
        </p:spPr>
        <p:txBody>
          <a:bodyPr wrap="square" lIns="25400" tIns="38100" rIns="38100" bIns="25400" rtlCol="0" anchor="ctr"/>
          <a:lstStyle/>
          <a:p>
            <a:pPr marL="0" indent="0" algn="just">
              <a:buNone/>
            </a:pPr>
            <a:r>
              <a:rPr lang="en-US" sz="920" dirty="0">
                <a:solidFill>
                  <a:srgbClr val="475569"/>
                </a:solidFill>
                <a:latin typeface="Calibri" pitchFamily="34" charset="0"/>
                <a:ea typeface="Calibri" pitchFamily="34" charset="-122"/>
                <a:cs typeface="Calibri" pitchFamily="34" charset="-120"/>
              </a:rPr>
              <a:t>The majority of modern scheduling applications require cloud connectivity, a user account, or both. This creates a critical barrier for students in low-connectivity environments. No prior offline-first academic scheduling app with this feature set exists in the open-source ecosystem.</a:t>
            </a:r>
            <a:endParaRPr lang="en-US" sz="920" dirty="0"/>
          </a:p>
        </p:txBody>
      </p:sp>
      <p:sp>
        <p:nvSpPr>
          <p:cNvPr id="17" name="Shape 15"/>
          <p:cNvSpPr/>
          <p:nvPr/>
        </p:nvSpPr>
        <p:spPr>
          <a:xfrm>
            <a:off x="228600" y="3785616"/>
            <a:ext cx="4251960" cy="1188720"/>
          </a:xfrm>
          <a:prstGeom prst="rect">
            <a:avLst/>
          </a:prstGeom>
          <a:solidFill>
            <a:srgbClr val="F0F7FF"/>
          </a:solidFill>
          <a:ln w="12700">
            <a:solidFill>
              <a:srgbClr val="CBD5E1"/>
            </a:solidFill>
            <a:prstDash val="solid"/>
          </a:ln>
        </p:spPr>
      </p:sp>
      <p:sp>
        <p:nvSpPr>
          <p:cNvPr id="18" name="Shape 16"/>
          <p:cNvSpPr/>
          <p:nvPr/>
        </p:nvSpPr>
        <p:spPr>
          <a:xfrm>
            <a:off x="228600" y="3785616"/>
            <a:ext cx="64008" cy="1188720"/>
          </a:xfrm>
          <a:prstGeom prst="rect">
            <a:avLst/>
          </a:prstGeom>
          <a:solidFill>
            <a:srgbClr val="7C3AED"/>
          </a:solidFill>
          <a:ln/>
        </p:spPr>
      </p:sp>
      <p:sp>
        <p:nvSpPr>
          <p:cNvPr id="19" name="Shape 17"/>
          <p:cNvSpPr/>
          <p:nvPr/>
        </p:nvSpPr>
        <p:spPr>
          <a:xfrm>
            <a:off x="374904" y="3877056"/>
            <a:ext cx="475488" cy="292608"/>
          </a:xfrm>
          <a:prstGeom prst="rect">
            <a:avLst/>
          </a:prstGeom>
          <a:solidFill>
            <a:srgbClr val="7C3AED"/>
          </a:solidFill>
          <a:ln/>
        </p:spPr>
      </p:sp>
      <p:sp>
        <p:nvSpPr>
          <p:cNvPr id="20" name="Text 18"/>
          <p:cNvSpPr/>
          <p:nvPr/>
        </p:nvSpPr>
        <p:spPr>
          <a:xfrm>
            <a:off x="374904" y="3877056"/>
            <a:ext cx="47548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Gap 3</a:t>
            </a:r>
            <a:endParaRPr lang="en-US" sz="900" dirty="0"/>
          </a:p>
        </p:txBody>
      </p:sp>
      <p:sp>
        <p:nvSpPr>
          <p:cNvPr id="21" name="Text 19"/>
          <p:cNvSpPr/>
          <p:nvPr/>
        </p:nvSpPr>
        <p:spPr>
          <a:xfrm>
            <a:off x="941832" y="3858768"/>
            <a:ext cx="3429000"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Absence of Semester Lifecycle Automation</a:t>
            </a:r>
            <a:endParaRPr lang="en-US" sz="1050" dirty="0"/>
          </a:p>
        </p:txBody>
      </p:sp>
      <p:sp>
        <p:nvSpPr>
          <p:cNvPr id="22" name="Text 20"/>
          <p:cNvSpPr/>
          <p:nvPr/>
        </p:nvSpPr>
        <p:spPr>
          <a:xfrm>
            <a:off x="374904" y="4206240"/>
            <a:ext cx="4014216" cy="713232"/>
          </a:xfrm>
          <a:prstGeom prst="rect">
            <a:avLst/>
          </a:prstGeom>
          <a:noFill/>
          <a:ln/>
        </p:spPr>
        <p:txBody>
          <a:bodyPr wrap="square" lIns="25400" tIns="38100" rIns="38100" bIns="25400" rtlCol="0" anchor="ctr"/>
          <a:lstStyle/>
          <a:p>
            <a:pPr marL="0" indent="0" algn="just">
              <a:buNone/>
            </a:pPr>
            <a:r>
              <a:rPr lang="en-US" sz="920" dirty="0">
                <a:solidFill>
                  <a:srgbClr val="475569"/>
                </a:solidFill>
                <a:latin typeface="Calibri" pitchFamily="34" charset="0"/>
                <a:ea typeface="Calibri" pitchFamily="34" charset="-122"/>
                <a:cs typeface="Calibri" pitchFamily="34" charset="-120"/>
              </a:rPr>
              <a:t>No published academic scheduling tool incorporates automated semester transition detection. The 45-day lifecycle check — which measures time elapsed since timetable creation and prompts a controlled bulk data reset — is an original contribution of this project.</a:t>
            </a:r>
            <a:endParaRPr lang="en-US" sz="920" dirty="0"/>
          </a:p>
        </p:txBody>
      </p:sp>
      <p:sp>
        <p:nvSpPr>
          <p:cNvPr id="23" name="Shape 21"/>
          <p:cNvSpPr/>
          <p:nvPr/>
        </p:nvSpPr>
        <p:spPr>
          <a:xfrm>
            <a:off x="4709160" y="1078992"/>
            <a:ext cx="4251960" cy="1188720"/>
          </a:xfrm>
          <a:prstGeom prst="rect">
            <a:avLst/>
          </a:prstGeom>
          <a:solidFill>
            <a:srgbClr val="F0F7FF"/>
          </a:solidFill>
          <a:ln w="12700">
            <a:solidFill>
              <a:srgbClr val="CBD5E1"/>
            </a:solidFill>
            <a:prstDash val="solid"/>
          </a:ln>
        </p:spPr>
      </p:sp>
      <p:sp>
        <p:nvSpPr>
          <p:cNvPr id="24" name="Shape 22"/>
          <p:cNvSpPr/>
          <p:nvPr/>
        </p:nvSpPr>
        <p:spPr>
          <a:xfrm>
            <a:off x="4709160" y="1078992"/>
            <a:ext cx="64008" cy="1188720"/>
          </a:xfrm>
          <a:prstGeom prst="rect">
            <a:avLst/>
          </a:prstGeom>
          <a:solidFill>
            <a:srgbClr val="1565C0"/>
          </a:solidFill>
          <a:ln/>
        </p:spPr>
      </p:sp>
      <p:sp>
        <p:nvSpPr>
          <p:cNvPr id="25" name="Shape 23"/>
          <p:cNvSpPr/>
          <p:nvPr/>
        </p:nvSpPr>
        <p:spPr>
          <a:xfrm>
            <a:off x="4855464" y="1170432"/>
            <a:ext cx="475488" cy="292608"/>
          </a:xfrm>
          <a:prstGeom prst="rect">
            <a:avLst/>
          </a:prstGeom>
          <a:solidFill>
            <a:srgbClr val="1565C0"/>
          </a:solidFill>
          <a:ln/>
        </p:spPr>
      </p:sp>
      <p:sp>
        <p:nvSpPr>
          <p:cNvPr id="26" name="Text 24"/>
          <p:cNvSpPr/>
          <p:nvPr/>
        </p:nvSpPr>
        <p:spPr>
          <a:xfrm>
            <a:off x="4855464" y="1170432"/>
            <a:ext cx="47548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Gap 4</a:t>
            </a:r>
            <a:endParaRPr lang="en-US" sz="900" dirty="0"/>
          </a:p>
        </p:txBody>
      </p:sp>
      <p:sp>
        <p:nvSpPr>
          <p:cNvPr id="27" name="Text 25"/>
          <p:cNvSpPr/>
          <p:nvPr/>
        </p:nvSpPr>
        <p:spPr>
          <a:xfrm>
            <a:off x="5422392" y="1152144"/>
            <a:ext cx="3429000"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Fixed and Non-Configurable Attendance Thresholds</a:t>
            </a:r>
            <a:endParaRPr lang="en-US" sz="1050" dirty="0"/>
          </a:p>
        </p:txBody>
      </p:sp>
      <p:sp>
        <p:nvSpPr>
          <p:cNvPr id="28" name="Text 26"/>
          <p:cNvSpPr/>
          <p:nvPr/>
        </p:nvSpPr>
        <p:spPr>
          <a:xfrm>
            <a:off x="4855464" y="1499616"/>
            <a:ext cx="4014216" cy="713232"/>
          </a:xfrm>
          <a:prstGeom prst="rect">
            <a:avLst/>
          </a:prstGeom>
          <a:noFill/>
          <a:ln/>
        </p:spPr>
        <p:txBody>
          <a:bodyPr wrap="square" lIns="25400" tIns="38100" rIns="38100" bIns="25400" rtlCol="0" anchor="ctr"/>
          <a:lstStyle/>
          <a:p>
            <a:pPr marL="0" indent="0" algn="just">
              <a:buNone/>
            </a:pPr>
            <a:r>
              <a:rPr lang="en-US" sz="920" dirty="0">
                <a:solidFill>
                  <a:srgbClr val="475569"/>
                </a:solidFill>
                <a:latin typeface="Calibri" pitchFamily="34" charset="0"/>
                <a:ea typeface="Calibri" pitchFamily="34" charset="-122"/>
                <a:cs typeface="Calibri" pitchFamily="34" charset="-120"/>
              </a:rPr>
              <a:t>Attendance tracking in comparable tools uses a universally fixed threshold (typically 75%). No application offers independently configurable Warning and Danger thresholds per student or institution, limiting adaptability to varying academic attendance policies across institutions.</a:t>
            </a:r>
            <a:endParaRPr lang="en-US" sz="920" dirty="0"/>
          </a:p>
        </p:txBody>
      </p:sp>
      <p:sp>
        <p:nvSpPr>
          <p:cNvPr id="29" name="Shape 27"/>
          <p:cNvSpPr/>
          <p:nvPr/>
        </p:nvSpPr>
        <p:spPr>
          <a:xfrm>
            <a:off x="4709160" y="2432304"/>
            <a:ext cx="4251960" cy="1188720"/>
          </a:xfrm>
          <a:prstGeom prst="rect">
            <a:avLst/>
          </a:prstGeom>
          <a:solidFill>
            <a:srgbClr val="F0F7FF"/>
          </a:solidFill>
          <a:ln w="12700">
            <a:solidFill>
              <a:srgbClr val="CBD5E1"/>
            </a:solidFill>
            <a:prstDash val="solid"/>
          </a:ln>
        </p:spPr>
      </p:sp>
      <p:sp>
        <p:nvSpPr>
          <p:cNvPr id="30" name="Shape 28"/>
          <p:cNvSpPr/>
          <p:nvPr/>
        </p:nvSpPr>
        <p:spPr>
          <a:xfrm>
            <a:off x="4709160" y="2432304"/>
            <a:ext cx="64008" cy="1188720"/>
          </a:xfrm>
          <a:prstGeom prst="rect">
            <a:avLst/>
          </a:prstGeom>
          <a:solidFill>
            <a:srgbClr val="10B981"/>
          </a:solidFill>
          <a:ln/>
        </p:spPr>
      </p:sp>
      <p:sp>
        <p:nvSpPr>
          <p:cNvPr id="31" name="Shape 29"/>
          <p:cNvSpPr/>
          <p:nvPr/>
        </p:nvSpPr>
        <p:spPr>
          <a:xfrm>
            <a:off x="4855464" y="2523744"/>
            <a:ext cx="475488" cy="292608"/>
          </a:xfrm>
          <a:prstGeom prst="rect">
            <a:avLst/>
          </a:prstGeom>
          <a:solidFill>
            <a:srgbClr val="10B981"/>
          </a:solidFill>
          <a:ln/>
        </p:spPr>
      </p:sp>
      <p:sp>
        <p:nvSpPr>
          <p:cNvPr id="32" name="Text 30"/>
          <p:cNvSpPr/>
          <p:nvPr/>
        </p:nvSpPr>
        <p:spPr>
          <a:xfrm>
            <a:off x="4855464" y="2523744"/>
            <a:ext cx="47548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Gap 5</a:t>
            </a:r>
            <a:endParaRPr lang="en-US" sz="900" dirty="0"/>
          </a:p>
        </p:txBody>
      </p:sp>
      <p:sp>
        <p:nvSpPr>
          <p:cNvPr id="33" name="Text 31"/>
          <p:cNvSpPr/>
          <p:nvPr/>
        </p:nvSpPr>
        <p:spPr>
          <a:xfrm>
            <a:off x="5422392" y="2505456"/>
            <a:ext cx="3429000"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No Standardised University-Format PDF Export</a:t>
            </a:r>
            <a:endParaRPr lang="en-US" sz="1050" dirty="0"/>
          </a:p>
        </p:txBody>
      </p:sp>
      <p:sp>
        <p:nvSpPr>
          <p:cNvPr id="34" name="Text 32"/>
          <p:cNvSpPr/>
          <p:nvPr/>
        </p:nvSpPr>
        <p:spPr>
          <a:xfrm>
            <a:off x="4855464" y="2852928"/>
            <a:ext cx="4014216" cy="713232"/>
          </a:xfrm>
          <a:prstGeom prst="rect">
            <a:avLst/>
          </a:prstGeom>
          <a:noFill/>
          <a:ln/>
        </p:spPr>
        <p:txBody>
          <a:bodyPr wrap="square" lIns="25400" tIns="38100" rIns="38100" bIns="25400" rtlCol="0" anchor="ctr"/>
          <a:lstStyle/>
          <a:p>
            <a:pPr marL="0" indent="0" algn="just">
              <a:buNone/>
            </a:pPr>
            <a:r>
              <a:rPr lang="en-US" sz="920" dirty="0">
                <a:solidFill>
                  <a:srgbClr val="475569"/>
                </a:solidFill>
                <a:latin typeface="Calibri" pitchFamily="34" charset="0"/>
                <a:ea typeface="Calibri" pitchFamily="34" charset="-122"/>
                <a:cs typeface="Calibri" pitchFamily="34" charset="-120"/>
              </a:rPr>
              <a:t>The automated generation of a 9-slot landscape timetable PDF — matching the exact period-by-day grid format used in Indian engineering institutions, complete with a subject legend table — has not been implemented in any comparable open-source academic scheduling tool prior to SchedIQ.</a:t>
            </a:r>
            <a:endParaRPr lang="en-US" sz="92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565C0"/>
          </a:solidFill>
          <a:ln/>
        </p:spPr>
      </p:sp>
      <p:sp>
        <p:nvSpPr>
          <p:cNvPr id="3" name="Text 1"/>
          <p:cNvSpPr/>
          <p:nvPr/>
        </p:nvSpPr>
        <p:spPr>
          <a:xfrm>
            <a:off x="320040" y="0"/>
            <a:ext cx="8503920" cy="56692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Novelty of the Project</a:t>
            </a:r>
            <a:endParaRPr lang="en-US" sz="2200" dirty="0"/>
          </a:p>
        </p:txBody>
      </p:sp>
      <p:sp>
        <p:nvSpPr>
          <p:cNvPr id="4" name="Text 2"/>
          <p:cNvSpPr/>
          <p:nvPr/>
        </p:nvSpPr>
        <p:spPr>
          <a:xfrm>
            <a:off x="228600" y="658368"/>
            <a:ext cx="8686800" cy="329184"/>
          </a:xfrm>
          <a:prstGeom prst="rect">
            <a:avLst/>
          </a:prstGeom>
          <a:noFill/>
          <a:ln/>
        </p:spPr>
        <p:txBody>
          <a:bodyPr wrap="square" lIns="25400" tIns="50800" rIns="50800" bIns="25400" rtlCol="0" anchor="ctr"/>
          <a:lstStyle/>
          <a:p>
            <a:pPr marL="0" indent="0" algn="just">
              <a:buNone/>
            </a:pPr>
            <a:r>
              <a:rPr lang="en-US" sz="1150" i="1" dirty="0">
                <a:solidFill>
                  <a:srgbClr val="475569"/>
                </a:solidFill>
                <a:latin typeface="Calibri" pitchFamily="34" charset="0"/>
                <a:ea typeface="Calibri" pitchFamily="34" charset="-122"/>
                <a:cs typeface="Calibri" pitchFamily="34" charset="-120"/>
              </a:rPr>
              <a:t>SchedIQ introduces seven original contributions that distinguish it from any existing academic scheduling tool.</a:t>
            </a:r>
            <a:endParaRPr lang="en-US" sz="1150" dirty="0"/>
          </a:p>
        </p:txBody>
      </p:sp>
      <p:sp>
        <p:nvSpPr>
          <p:cNvPr id="5" name="Shape 3"/>
          <p:cNvSpPr/>
          <p:nvPr/>
        </p:nvSpPr>
        <p:spPr>
          <a:xfrm>
            <a:off x="228600" y="1042416"/>
            <a:ext cx="4251960" cy="956691"/>
          </a:xfrm>
          <a:prstGeom prst="rect">
            <a:avLst/>
          </a:prstGeom>
          <a:solidFill>
            <a:srgbClr val="F0F7FF"/>
          </a:solidFill>
          <a:ln w="12700">
            <a:solidFill>
              <a:srgbClr val="CBD5E1"/>
            </a:solidFill>
            <a:prstDash val="solid"/>
          </a:ln>
        </p:spPr>
      </p:sp>
      <p:sp>
        <p:nvSpPr>
          <p:cNvPr id="6" name="Shape 4"/>
          <p:cNvSpPr/>
          <p:nvPr/>
        </p:nvSpPr>
        <p:spPr>
          <a:xfrm>
            <a:off x="320040" y="1188720"/>
            <a:ext cx="420624" cy="420624"/>
          </a:xfrm>
          <a:prstGeom prst="line">
            <a:avLst/>
          </a:prstGeom>
          <a:solidFill>
            <a:srgbClr val="EF4444"/>
          </a:solidFill>
          <a:ln/>
        </p:spPr>
      </p:sp>
      <p:sp>
        <p:nvSpPr>
          <p:cNvPr id="7" name="Text 5"/>
          <p:cNvSpPr/>
          <p:nvPr/>
        </p:nvSpPr>
        <p:spPr>
          <a:xfrm>
            <a:off x="320040" y="118872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32104" y="1097280"/>
            <a:ext cx="3557016"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Smart Overlap Detection Engine</a:t>
            </a:r>
            <a:endParaRPr lang="en-US" sz="1050" dirty="0"/>
          </a:p>
        </p:txBody>
      </p:sp>
      <p:sp>
        <p:nvSpPr>
          <p:cNvPr id="9" name="Text 7"/>
          <p:cNvSpPr/>
          <p:nvPr/>
        </p:nvSpPr>
        <p:spPr>
          <a:xfrm>
            <a:off x="832104" y="1389888"/>
            <a:ext cx="3557016" cy="554355"/>
          </a:xfrm>
          <a:prstGeom prst="rect">
            <a:avLst/>
          </a:prstGeom>
          <a:noFill/>
          <a:ln/>
        </p:spPr>
        <p:txBody>
          <a:bodyPr wrap="square" lIns="12700" tIns="38100" rIns="38100" bIns="12700" rtlCol="0" anchor="ctr">
            <a:spAutoFit/>
          </a:bodyPr>
          <a:lstStyle/>
          <a:p>
            <a:pPr marL="0" indent="0" algn="just">
              <a:buNone/>
            </a:pPr>
            <a:r>
              <a:rPr lang="en-US" sz="820" dirty="0">
                <a:solidFill>
                  <a:srgbClr val="475569"/>
                </a:solidFill>
                <a:latin typeface="Calibri" pitchFamily="34" charset="0"/>
                <a:ea typeface="Calibri" pitchFamily="34" charset="-122"/>
                <a:cs typeface="Calibri" pitchFamily="34" charset="-120"/>
              </a:rPr>
              <a:t>On every save action, the system queries all existing class entries for the same day and checks whether the new entry's start–end window conflicts with any existing slot. If a conflict is found, the save operation is blocked and a descriptive error is shown — preventing impossible schedules from ever entering the database.</a:t>
            </a:r>
            <a:endParaRPr lang="en-US" sz="820" dirty="0"/>
          </a:p>
        </p:txBody>
      </p:sp>
      <p:sp>
        <p:nvSpPr>
          <p:cNvPr id="10" name="Shape 8"/>
          <p:cNvSpPr/>
          <p:nvPr/>
        </p:nvSpPr>
        <p:spPr>
          <a:xfrm>
            <a:off x="228600" y="2090547"/>
            <a:ext cx="4251960" cy="956691"/>
          </a:xfrm>
          <a:prstGeom prst="rect">
            <a:avLst/>
          </a:prstGeom>
          <a:solidFill>
            <a:srgbClr val="F0F7FF"/>
          </a:solidFill>
          <a:ln w="12700">
            <a:solidFill>
              <a:srgbClr val="CBD5E1"/>
            </a:solidFill>
            <a:prstDash val="solid"/>
          </a:ln>
        </p:spPr>
      </p:sp>
      <p:sp>
        <p:nvSpPr>
          <p:cNvPr id="11" name="Shape 9"/>
          <p:cNvSpPr/>
          <p:nvPr/>
        </p:nvSpPr>
        <p:spPr>
          <a:xfrm>
            <a:off x="320040" y="2236851"/>
            <a:ext cx="420624" cy="420624"/>
          </a:xfrm>
          <a:prstGeom prst="line">
            <a:avLst/>
          </a:prstGeom>
          <a:solidFill>
            <a:srgbClr val="F59E0B"/>
          </a:solidFill>
          <a:ln/>
        </p:spPr>
      </p:sp>
      <p:sp>
        <p:nvSpPr>
          <p:cNvPr id="12" name="Text 10"/>
          <p:cNvSpPr/>
          <p:nvPr/>
        </p:nvSpPr>
        <p:spPr>
          <a:xfrm>
            <a:off x="320040" y="2236851"/>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832104" y="2145411"/>
            <a:ext cx="3557016"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Dual-Threshold Configurable Attendance Alerts</a:t>
            </a:r>
            <a:endParaRPr lang="en-US" sz="1050" dirty="0"/>
          </a:p>
        </p:txBody>
      </p:sp>
      <p:sp>
        <p:nvSpPr>
          <p:cNvPr id="14" name="Text 12"/>
          <p:cNvSpPr/>
          <p:nvPr/>
        </p:nvSpPr>
        <p:spPr>
          <a:xfrm>
            <a:off x="832104" y="2438019"/>
            <a:ext cx="3557016" cy="554355"/>
          </a:xfrm>
          <a:prstGeom prst="rect">
            <a:avLst/>
          </a:prstGeom>
          <a:noFill/>
          <a:ln/>
        </p:spPr>
        <p:txBody>
          <a:bodyPr wrap="square" lIns="12700" tIns="38100" rIns="38100" bIns="12700" rtlCol="0" anchor="ctr">
            <a:spAutoFit/>
          </a:bodyPr>
          <a:lstStyle/>
          <a:p>
            <a:pPr marL="0" indent="0" algn="just">
              <a:buNone/>
            </a:pPr>
            <a:r>
              <a:rPr lang="en-US" sz="820" dirty="0">
                <a:solidFill>
                  <a:srgbClr val="475569"/>
                </a:solidFill>
                <a:latin typeface="Calibri" pitchFamily="34" charset="0"/>
                <a:ea typeface="Calibri" pitchFamily="34" charset="-122"/>
                <a:cs typeface="Calibri" pitchFamily="34" charset="-120"/>
              </a:rPr>
              <a:t>The attendance tracker maintains two independently configurable thresholds: Warning and Danger. After every attendance mark, the running percentage is recalculated and compared against both thresholds. A yellow indicator appears below Warning level; a red indicator appears below Danger level — giving students immediate, actionable visibility.</a:t>
            </a:r>
            <a:endParaRPr lang="en-US" sz="820" dirty="0"/>
          </a:p>
        </p:txBody>
      </p:sp>
      <p:sp>
        <p:nvSpPr>
          <p:cNvPr id="15" name="Shape 13"/>
          <p:cNvSpPr/>
          <p:nvPr/>
        </p:nvSpPr>
        <p:spPr>
          <a:xfrm>
            <a:off x="228600" y="3138678"/>
            <a:ext cx="4251960" cy="956691"/>
          </a:xfrm>
          <a:prstGeom prst="rect">
            <a:avLst/>
          </a:prstGeom>
          <a:solidFill>
            <a:srgbClr val="F0F7FF"/>
          </a:solidFill>
          <a:ln w="12700">
            <a:solidFill>
              <a:srgbClr val="CBD5E1"/>
            </a:solidFill>
            <a:prstDash val="solid"/>
          </a:ln>
        </p:spPr>
      </p:sp>
      <p:sp>
        <p:nvSpPr>
          <p:cNvPr id="16" name="Shape 14"/>
          <p:cNvSpPr/>
          <p:nvPr/>
        </p:nvSpPr>
        <p:spPr>
          <a:xfrm>
            <a:off x="320040" y="3284982"/>
            <a:ext cx="420624" cy="420624"/>
          </a:xfrm>
          <a:prstGeom prst="line">
            <a:avLst/>
          </a:prstGeom>
          <a:solidFill>
            <a:srgbClr val="7C3AED"/>
          </a:solidFill>
          <a:ln/>
        </p:spPr>
      </p:sp>
      <p:sp>
        <p:nvSpPr>
          <p:cNvPr id="17" name="Text 15"/>
          <p:cNvSpPr/>
          <p:nvPr/>
        </p:nvSpPr>
        <p:spPr>
          <a:xfrm>
            <a:off x="320040" y="328498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32104" y="3193542"/>
            <a:ext cx="3557016"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45-Day Semester Lifecycle Automation</a:t>
            </a:r>
            <a:endParaRPr lang="en-US" sz="1050" dirty="0"/>
          </a:p>
        </p:txBody>
      </p:sp>
      <p:sp>
        <p:nvSpPr>
          <p:cNvPr id="19" name="Text 17"/>
          <p:cNvSpPr/>
          <p:nvPr/>
        </p:nvSpPr>
        <p:spPr>
          <a:xfrm>
            <a:off x="832104" y="3486150"/>
            <a:ext cx="3557016" cy="554355"/>
          </a:xfrm>
          <a:prstGeom prst="rect">
            <a:avLst/>
          </a:prstGeom>
          <a:noFill/>
          <a:ln/>
        </p:spPr>
        <p:txBody>
          <a:bodyPr wrap="square" lIns="12700" tIns="38100" rIns="38100" bIns="12700" rtlCol="0" anchor="ctr">
            <a:spAutoFit/>
          </a:bodyPr>
          <a:lstStyle/>
          <a:p>
            <a:pPr marL="0" indent="0" algn="just">
              <a:buNone/>
            </a:pPr>
            <a:r>
              <a:rPr lang="en-US" sz="820" dirty="0">
                <a:solidFill>
                  <a:srgbClr val="475569"/>
                </a:solidFill>
                <a:latin typeface="Calibri" pitchFamily="34" charset="0"/>
                <a:ea typeface="Calibri" pitchFamily="34" charset="-122"/>
                <a:cs typeface="Calibri" pitchFamily="34" charset="-120"/>
              </a:rPr>
              <a:t>When the app is first configured, the current date is stored as the timetable creation timestamp. On every subsequent launch, the background checker calculates elapsed days. At 45 days, a dialog prompts the student to clear all class and attendance data for the new semester. A 7-day deferral option is offered for students whose semester has not yet transitioned.</a:t>
            </a:r>
            <a:endParaRPr lang="en-US" sz="820" dirty="0"/>
          </a:p>
        </p:txBody>
      </p:sp>
      <p:sp>
        <p:nvSpPr>
          <p:cNvPr id="20" name="Shape 18"/>
          <p:cNvSpPr/>
          <p:nvPr/>
        </p:nvSpPr>
        <p:spPr>
          <a:xfrm>
            <a:off x="228600" y="4186809"/>
            <a:ext cx="4251960" cy="956691"/>
          </a:xfrm>
          <a:prstGeom prst="rect">
            <a:avLst/>
          </a:prstGeom>
          <a:solidFill>
            <a:srgbClr val="F0F7FF"/>
          </a:solidFill>
          <a:ln w="12700">
            <a:solidFill>
              <a:srgbClr val="CBD5E1"/>
            </a:solidFill>
            <a:prstDash val="solid"/>
          </a:ln>
        </p:spPr>
      </p:sp>
      <p:sp>
        <p:nvSpPr>
          <p:cNvPr id="21" name="Shape 19"/>
          <p:cNvSpPr/>
          <p:nvPr/>
        </p:nvSpPr>
        <p:spPr>
          <a:xfrm>
            <a:off x="320040" y="4333113"/>
            <a:ext cx="420624" cy="420624"/>
          </a:xfrm>
          <a:prstGeom prst="line">
            <a:avLst/>
          </a:prstGeom>
          <a:solidFill>
            <a:srgbClr val="1565C0"/>
          </a:solidFill>
          <a:ln/>
        </p:spPr>
      </p:sp>
      <p:sp>
        <p:nvSpPr>
          <p:cNvPr id="22" name="Text 20"/>
          <p:cNvSpPr/>
          <p:nvPr/>
        </p:nvSpPr>
        <p:spPr>
          <a:xfrm>
            <a:off x="320040" y="4333113"/>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832104" y="4241673"/>
            <a:ext cx="3557016"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University-Standard 9-Slot Landscape PDF Export</a:t>
            </a:r>
            <a:endParaRPr lang="en-US" sz="1050" dirty="0"/>
          </a:p>
        </p:txBody>
      </p:sp>
      <p:sp>
        <p:nvSpPr>
          <p:cNvPr id="24" name="Text 22"/>
          <p:cNvSpPr/>
          <p:nvPr/>
        </p:nvSpPr>
        <p:spPr>
          <a:xfrm>
            <a:off x="832104" y="4534281"/>
            <a:ext cx="3557016" cy="554355"/>
          </a:xfrm>
          <a:prstGeom prst="rect">
            <a:avLst/>
          </a:prstGeom>
          <a:noFill/>
          <a:ln/>
        </p:spPr>
        <p:txBody>
          <a:bodyPr wrap="square" lIns="12700" tIns="38100" rIns="38100" bIns="12700" rtlCol="0" anchor="ctr">
            <a:spAutoFit/>
          </a:bodyPr>
          <a:lstStyle/>
          <a:p>
            <a:pPr marL="0" indent="0" algn="just">
              <a:buNone/>
            </a:pPr>
            <a:r>
              <a:rPr lang="en-US" sz="820" dirty="0">
                <a:solidFill>
                  <a:srgbClr val="475569"/>
                </a:solidFill>
                <a:latin typeface="Calibri" pitchFamily="34" charset="0"/>
                <a:ea typeface="Calibri" pitchFamily="34" charset="-122"/>
                <a:cs typeface="Calibri" pitchFamily="34" charset="-120"/>
              </a:rPr>
              <a:t>The PDF engine constructs a structured A4 landscape document with 9 time-slot columns (8:00 AM to 4:50 PM), a Lunch column, one row per working day, and a subject legend table. The file can be shared via WhatsApp, email, or saved to Downloads instantly.</a:t>
            </a:r>
            <a:endParaRPr lang="en-US" sz="820" dirty="0"/>
          </a:p>
        </p:txBody>
      </p:sp>
      <p:sp>
        <p:nvSpPr>
          <p:cNvPr id="25" name="Shape 23"/>
          <p:cNvSpPr/>
          <p:nvPr/>
        </p:nvSpPr>
        <p:spPr>
          <a:xfrm>
            <a:off x="4709160" y="1042416"/>
            <a:ext cx="4251960" cy="1290828"/>
          </a:xfrm>
          <a:prstGeom prst="rect">
            <a:avLst/>
          </a:prstGeom>
          <a:solidFill>
            <a:srgbClr val="F0F7FF"/>
          </a:solidFill>
          <a:ln w="12700">
            <a:solidFill>
              <a:srgbClr val="CBD5E1"/>
            </a:solidFill>
            <a:prstDash val="solid"/>
          </a:ln>
        </p:spPr>
      </p:sp>
      <p:sp>
        <p:nvSpPr>
          <p:cNvPr id="26" name="Shape 24"/>
          <p:cNvSpPr/>
          <p:nvPr/>
        </p:nvSpPr>
        <p:spPr>
          <a:xfrm>
            <a:off x="4800600" y="1188720"/>
            <a:ext cx="420624" cy="420624"/>
          </a:xfrm>
          <a:prstGeom prst="line">
            <a:avLst/>
          </a:prstGeom>
          <a:solidFill>
            <a:srgbClr val="10B981"/>
          </a:solidFill>
          <a:ln/>
        </p:spPr>
      </p:sp>
      <p:sp>
        <p:nvSpPr>
          <p:cNvPr id="27" name="Text 25"/>
          <p:cNvSpPr/>
          <p:nvPr/>
        </p:nvSpPr>
        <p:spPr>
          <a:xfrm>
            <a:off x="4800600" y="118872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5312664" y="1097280"/>
            <a:ext cx="3557016"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Dynamic Working Day Configuration</a:t>
            </a:r>
            <a:endParaRPr lang="en-US" sz="1050" dirty="0"/>
          </a:p>
        </p:txBody>
      </p:sp>
      <p:sp>
        <p:nvSpPr>
          <p:cNvPr id="29" name="Text 27"/>
          <p:cNvSpPr/>
          <p:nvPr/>
        </p:nvSpPr>
        <p:spPr>
          <a:xfrm>
            <a:off x="5312664" y="1389888"/>
            <a:ext cx="3557016" cy="888492"/>
          </a:xfrm>
          <a:prstGeom prst="rect">
            <a:avLst/>
          </a:prstGeom>
          <a:noFill/>
          <a:ln/>
        </p:spPr>
        <p:txBody>
          <a:bodyPr wrap="square" lIns="12700" tIns="38100" rIns="38100" bIns="12700" rtlCol="0" anchor="ctr">
            <a:spAutoFit/>
          </a:bodyPr>
          <a:lstStyle/>
          <a:p>
            <a:pPr marL="0" indent="0" algn="just">
              <a:buNone/>
            </a:pPr>
            <a:r>
              <a:rPr lang="en-US" sz="820" dirty="0">
                <a:solidFill>
                  <a:srgbClr val="475569"/>
                </a:solidFill>
                <a:latin typeface="Calibri" pitchFamily="34" charset="0"/>
                <a:ea typeface="Calibri" pitchFamily="34" charset="-122"/>
                <a:cs typeface="Calibri" pitchFamily="34" charset="-120"/>
              </a:rPr>
              <a:t>Students configure their institution's active days (Mon–Sat or any subset) in Settings. Disabled days are immediately removed from timetable tabs, class-addition dropdowns, and the PDF export — ensuring the entire application adapts to the institution's academic calendar without manual workarounds.</a:t>
            </a:r>
            <a:endParaRPr lang="en-US" sz="820" dirty="0"/>
          </a:p>
        </p:txBody>
      </p:sp>
      <p:sp>
        <p:nvSpPr>
          <p:cNvPr id="30" name="Shape 28"/>
          <p:cNvSpPr/>
          <p:nvPr/>
        </p:nvSpPr>
        <p:spPr>
          <a:xfrm>
            <a:off x="4709160" y="2447544"/>
            <a:ext cx="4251960" cy="1290828"/>
          </a:xfrm>
          <a:prstGeom prst="rect">
            <a:avLst/>
          </a:prstGeom>
          <a:solidFill>
            <a:srgbClr val="F0F7FF"/>
          </a:solidFill>
          <a:ln w="12700">
            <a:solidFill>
              <a:srgbClr val="CBD5E1"/>
            </a:solidFill>
            <a:prstDash val="solid"/>
          </a:ln>
        </p:spPr>
      </p:sp>
      <p:sp>
        <p:nvSpPr>
          <p:cNvPr id="31" name="Shape 29"/>
          <p:cNvSpPr/>
          <p:nvPr/>
        </p:nvSpPr>
        <p:spPr>
          <a:xfrm>
            <a:off x="4800600" y="2593848"/>
            <a:ext cx="420624" cy="420624"/>
          </a:xfrm>
          <a:prstGeom prst="line">
            <a:avLst/>
          </a:prstGeom>
          <a:solidFill>
            <a:srgbClr val="06B6D4"/>
          </a:solidFill>
          <a:ln/>
        </p:spPr>
      </p:sp>
      <p:sp>
        <p:nvSpPr>
          <p:cNvPr id="32" name="Text 30"/>
          <p:cNvSpPr/>
          <p:nvPr/>
        </p:nvSpPr>
        <p:spPr>
          <a:xfrm>
            <a:off x="4800600" y="25938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5312664" y="2502408"/>
            <a:ext cx="3557016"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Dual-Architecture V1 + V2 Backward Compatibility</a:t>
            </a:r>
            <a:endParaRPr lang="en-US" sz="1050" dirty="0"/>
          </a:p>
        </p:txBody>
      </p:sp>
      <p:sp>
        <p:nvSpPr>
          <p:cNvPr id="34" name="Text 32"/>
          <p:cNvSpPr/>
          <p:nvPr/>
        </p:nvSpPr>
        <p:spPr>
          <a:xfrm>
            <a:off x="5312664" y="2795016"/>
            <a:ext cx="3557016" cy="888492"/>
          </a:xfrm>
          <a:prstGeom prst="rect">
            <a:avLst/>
          </a:prstGeom>
          <a:noFill/>
          <a:ln/>
        </p:spPr>
        <p:txBody>
          <a:bodyPr wrap="square" lIns="12700" tIns="38100" rIns="38100" bIns="12700" rtlCol="0" anchor="ctr">
            <a:spAutoFit/>
          </a:bodyPr>
          <a:lstStyle/>
          <a:p>
            <a:pPr marL="0" indent="0" algn="just">
              <a:buNone/>
            </a:pPr>
            <a:r>
              <a:rPr lang="en-US" sz="820" dirty="0">
                <a:solidFill>
                  <a:srgbClr val="475569"/>
                </a:solidFill>
                <a:latin typeface="Calibri" pitchFamily="34" charset="0"/>
                <a:ea typeface="Calibri" pitchFamily="34" charset="-122"/>
                <a:cs typeface="Calibri" pitchFamily="34" charset="-120"/>
              </a:rPr>
              <a:t>Both V1 and V2 providers are registered and run in parallel at application startup. V1 class entries remain fully readable and manageable by the V1 provider while all V2 features operate alongside them. This demonstrates a professional approach to incremental software evolution without requiring data migration or breaking existing records.</a:t>
            </a:r>
            <a:endParaRPr lang="en-US" sz="820" dirty="0"/>
          </a:p>
        </p:txBody>
      </p:sp>
      <p:sp>
        <p:nvSpPr>
          <p:cNvPr id="35" name="Shape 33"/>
          <p:cNvSpPr/>
          <p:nvPr/>
        </p:nvSpPr>
        <p:spPr>
          <a:xfrm>
            <a:off x="4709160" y="3852672"/>
            <a:ext cx="4251960" cy="1290828"/>
          </a:xfrm>
          <a:prstGeom prst="rect">
            <a:avLst/>
          </a:prstGeom>
          <a:solidFill>
            <a:srgbClr val="F0F7FF"/>
          </a:solidFill>
          <a:ln w="12700">
            <a:solidFill>
              <a:srgbClr val="CBD5E1"/>
            </a:solidFill>
            <a:prstDash val="solid"/>
          </a:ln>
        </p:spPr>
      </p:sp>
      <p:sp>
        <p:nvSpPr>
          <p:cNvPr id="36" name="Shape 34"/>
          <p:cNvSpPr/>
          <p:nvPr/>
        </p:nvSpPr>
        <p:spPr>
          <a:xfrm>
            <a:off x="4800600" y="3998976"/>
            <a:ext cx="420624" cy="420624"/>
          </a:xfrm>
          <a:prstGeom prst="line">
            <a:avLst/>
          </a:prstGeom>
          <a:solidFill>
            <a:srgbClr val="EC4899"/>
          </a:solidFill>
          <a:ln/>
        </p:spPr>
      </p:sp>
      <p:sp>
        <p:nvSpPr>
          <p:cNvPr id="37" name="Text 35"/>
          <p:cNvSpPr/>
          <p:nvPr/>
        </p:nvSpPr>
        <p:spPr>
          <a:xfrm>
            <a:off x="4800600" y="399897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8" name="Text 36"/>
          <p:cNvSpPr/>
          <p:nvPr/>
        </p:nvSpPr>
        <p:spPr>
          <a:xfrm>
            <a:off x="5312664" y="3907536"/>
            <a:ext cx="3557016"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Fully Offline, Zero-Login Architecture</a:t>
            </a:r>
            <a:endParaRPr lang="en-US" sz="1050" dirty="0"/>
          </a:p>
        </p:txBody>
      </p:sp>
      <p:sp>
        <p:nvSpPr>
          <p:cNvPr id="39" name="Text 37"/>
          <p:cNvSpPr/>
          <p:nvPr/>
        </p:nvSpPr>
        <p:spPr>
          <a:xfrm>
            <a:off x="5312664" y="4200144"/>
            <a:ext cx="3557016" cy="888492"/>
          </a:xfrm>
          <a:prstGeom prst="rect">
            <a:avLst/>
          </a:prstGeom>
          <a:noFill/>
          <a:ln/>
        </p:spPr>
        <p:txBody>
          <a:bodyPr wrap="square" lIns="12700" tIns="38100" rIns="38100" bIns="12700" rtlCol="0" anchor="ctr">
            <a:spAutoFit/>
          </a:bodyPr>
          <a:lstStyle/>
          <a:p>
            <a:pPr marL="0" indent="0" algn="just">
              <a:buNone/>
            </a:pPr>
            <a:r>
              <a:rPr lang="en-US" sz="820" dirty="0">
                <a:solidFill>
                  <a:srgbClr val="475569"/>
                </a:solidFill>
                <a:latin typeface="Calibri" pitchFamily="34" charset="0"/>
                <a:ea typeface="Calibri" pitchFamily="34" charset="-122"/>
                <a:cs typeface="Calibri" pitchFamily="34" charset="-120"/>
              </a:rPr>
              <a:t>Every capability — timetable management, attendance tracking, PDF generation, and local notifications — functions entirely without an internet connection, a remote server, or a user account. This is a deliberate architectural decision ensuring the application remains accessible to all students regardless of their device data plan or network environment.</a:t>
            </a:r>
            <a:endParaRPr lang="en-US" sz="82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565C0"/>
          </a:solidFill>
          <a:ln/>
        </p:spPr>
      </p:sp>
      <p:sp>
        <p:nvSpPr>
          <p:cNvPr id="3" name="Text 1"/>
          <p:cNvSpPr/>
          <p:nvPr/>
        </p:nvSpPr>
        <p:spPr>
          <a:xfrm>
            <a:off x="320040" y="0"/>
            <a:ext cx="8503920" cy="56692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Novelty of the Project</a:t>
            </a:r>
            <a:endParaRPr lang="en-US" sz="2200" dirty="0"/>
          </a:p>
        </p:txBody>
      </p:sp>
      <p:sp>
        <p:nvSpPr>
          <p:cNvPr id="4" name="Text 2"/>
          <p:cNvSpPr/>
          <p:nvPr/>
        </p:nvSpPr>
        <p:spPr>
          <a:xfrm>
            <a:off x="228600" y="658368"/>
            <a:ext cx="8686800" cy="329184"/>
          </a:xfrm>
          <a:prstGeom prst="rect">
            <a:avLst/>
          </a:prstGeom>
          <a:noFill/>
          <a:ln/>
        </p:spPr>
        <p:txBody>
          <a:bodyPr wrap="square" lIns="25400" tIns="50800" rIns="50800" bIns="25400" rtlCol="0" anchor="ctr"/>
          <a:lstStyle/>
          <a:p>
            <a:pPr marL="0" indent="0" algn="just">
              <a:buNone/>
            </a:pPr>
            <a:r>
              <a:rPr lang="en-US" sz="1150" i="1" dirty="0">
                <a:solidFill>
                  <a:srgbClr val="475569"/>
                </a:solidFill>
                <a:latin typeface="Calibri" pitchFamily="34" charset="0"/>
                <a:ea typeface="Calibri" pitchFamily="34" charset="-122"/>
                <a:cs typeface="Calibri" pitchFamily="34" charset="-120"/>
              </a:rPr>
              <a:t>SchedIQ introduces seven original contributions that distinguish it from any existing academic scheduling tool.</a:t>
            </a:r>
            <a:endParaRPr lang="en-US" sz="1150" dirty="0"/>
          </a:p>
        </p:txBody>
      </p:sp>
      <p:sp>
        <p:nvSpPr>
          <p:cNvPr id="6" name="Shape 4"/>
          <p:cNvSpPr/>
          <p:nvPr/>
        </p:nvSpPr>
        <p:spPr>
          <a:xfrm>
            <a:off x="320040" y="1188720"/>
            <a:ext cx="420624" cy="420624"/>
          </a:xfrm>
          <a:prstGeom prst="line">
            <a:avLst/>
          </a:prstGeom>
          <a:solidFill>
            <a:srgbClr val="EF4444"/>
          </a:solidFill>
          <a:ln/>
        </p:spPr>
      </p:sp>
      <p:sp>
        <p:nvSpPr>
          <p:cNvPr id="7" name="Text 5"/>
          <p:cNvSpPr/>
          <p:nvPr/>
        </p:nvSpPr>
        <p:spPr>
          <a:xfrm>
            <a:off x="320040" y="118872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Shape 9"/>
          <p:cNvSpPr/>
          <p:nvPr/>
        </p:nvSpPr>
        <p:spPr>
          <a:xfrm>
            <a:off x="320040" y="2236851"/>
            <a:ext cx="420624" cy="420624"/>
          </a:xfrm>
          <a:prstGeom prst="line">
            <a:avLst/>
          </a:prstGeom>
          <a:solidFill>
            <a:srgbClr val="F59E0B"/>
          </a:solidFill>
          <a:ln/>
        </p:spPr>
      </p:sp>
      <p:sp>
        <p:nvSpPr>
          <p:cNvPr id="12" name="Text 10"/>
          <p:cNvSpPr/>
          <p:nvPr/>
        </p:nvSpPr>
        <p:spPr>
          <a:xfrm>
            <a:off x="320040" y="2236851"/>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Shape 14"/>
          <p:cNvSpPr/>
          <p:nvPr/>
        </p:nvSpPr>
        <p:spPr>
          <a:xfrm>
            <a:off x="320040" y="3284982"/>
            <a:ext cx="420624" cy="420624"/>
          </a:xfrm>
          <a:prstGeom prst="line">
            <a:avLst/>
          </a:prstGeom>
          <a:solidFill>
            <a:srgbClr val="7C3AED"/>
          </a:solidFill>
          <a:ln/>
        </p:spPr>
      </p:sp>
      <p:sp>
        <p:nvSpPr>
          <p:cNvPr id="17" name="Text 15"/>
          <p:cNvSpPr/>
          <p:nvPr/>
        </p:nvSpPr>
        <p:spPr>
          <a:xfrm>
            <a:off x="320040" y="328498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Shape 19"/>
          <p:cNvSpPr/>
          <p:nvPr/>
        </p:nvSpPr>
        <p:spPr>
          <a:xfrm>
            <a:off x="320040" y="4333113"/>
            <a:ext cx="420624" cy="420624"/>
          </a:xfrm>
          <a:prstGeom prst="line">
            <a:avLst/>
          </a:prstGeom>
          <a:solidFill>
            <a:srgbClr val="1565C0"/>
          </a:solidFill>
          <a:ln/>
        </p:spPr>
      </p:sp>
      <p:sp>
        <p:nvSpPr>
          <p:cNvPr id="22" name="Text 20"/>
          <p:cNvSpPr/>
          <p:nvPr/>
        </p:nvSpPr>
        <p:spPr>
          <a:xfrm>
            <a:off x="320040" y="4333113"/>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pic>
        <p:nvPicPr>
          <p:cNvPr id="40" name="Pictur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1689" y="1122803"/>
            <a:ext cx="6040622" cy="3630934"/>
          </a:xfrm>
          <a:prstGeom prst="rect">
            <a:avLst/>
          </a:prstGeom>
        </p:spPr>
      </p:pic>
    </p:spTree>
    <p:extLst>
      <p:ext uri="{BB962C8B-B14F-4D97-AF65-F5344CB8AC3E}">
        <p14:creationId xmlns:p14="http://schemas.microsoft.com/office/powerpoint/2010/main" val="14925606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565C0"/>
          </a:solidFill>
          <a:ln/>
        </p:spPr>
      </p:sp>
      <p:sp>
        <p:nvSpPr>
          <p:cNvPr id="3" name="Text 1"/>
          <p:cNvSpPr/>
          <p:nvPr/>
        </p:nvSpPr>
        <p:spPr>
          <a:xfrm>
            <a:off x="320040" y="0"/>
            <a:ext cx="8503920" cy="56692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Novelty of the Project</a:t>
            </a:r>
            <a:endParaRPr lang="en-US" sz="2200" dirty="0"/>
          </a:p>
        </p:txBody>
      </p:sp>
      <p:sp>
        <p:nvSpPr>
          <p:cNvPr id="4" name="Text 2"/>
          <p:cNvSpPr/>
          <p:nvPr/>
        </p:nvSpPr>
        <p:spPr>
          <a:xfrm>
            <a:off x="228600" y="658368"/>
            <a:ext cx="8686800" cy="329184"/>
          </a:xfrm>
          <a:prstGeom prst="rect">
            <a:avLst/>
          </a:prstGeom>
          <a:noFill/>
          <a:ln/>
        </p:spPr>
        <p:txBody>
          <a:bodyPr wrap="square" lIns="25400" tIns="50800" rIns="50800" bIns="25400" rtlCol="0" anchor="ctr"/>
          <a:lstStyle/>
          <a:p>
            <a:pPr marL="0" indent="0" algn="just">
              <a:buNone/>
            </a:pPr>
            <a:r>
              <a:rPr lang="en-US" sz="1150" i="1" dirty="0">
                <a:solidFill>
                  <a:srgbClr val="475569"/>
                </a:solidFill>
                <a:latin typeface="Calibri" pitchFamily="34" charset="0"/>
                <a:ea typeface="Calibri" pitchFamily="34" charset="-122"/>
                <a:cs typeface="Calibri" pitchFamily="34" charset="-120"/>
              </a:rPr>
              <a:t>SchedIQ introduces seven original contributions that distinguish it from any existing academic scheduling tool.</a:t>
            </a:r>
            <a:endParaRPr lang="en-US" sz="1150" dirty="0"/>
          </a:p>
        </p:txBody>
      </p:sp>
      <p:sp>
        <p:nvSpPr>
          <p:cNvPr id="5" name="Shape 3"/>
          <p:cNvSpPr/>
          <p:nvPr/>
        </p:nvSpPr>
        <p:spPr>
          <a:xfrm>
            <a:off x="228600" y="1042416"/>
            <a:ext cx="4251960" cy="956691"/>
          </a:xfrm>
          <a:prstGeom prst="rect">
            <a:avLst/>
          </a:prstGeom>
          <a:solidFill>
            <a:srgbClr val="F0F7FF"/>
          </a:solidFill>
          <a:ln w="12700">
            <a:solidFill>
              <a:srgbClr val="CBD5E1"/>
            </a:solidFill>
            <a:prstDash val="solid"/>
          </a:ln>
        </p:spPr>
      </p:sp>
      <p:sp>
        <p:nvSpPr>
          <p:cNvPr id="6" name="Shape 4"/>
          <p:cNvSpPr/>
          <p:nvPr/>
        </p:nvSpPr>
        <p:spPr>
          <a:xfrm>
            <a:off x="320040" y="1188720"/>
            <a:ext cx="420624" cy="420624"/>
          </a:xfrm>
          <a:prstGeom prst="line">
            <a:avLst/>
          </a:prstGeom>
          <a:solidFill>
            <a:srgbClr val="EF4444"/>
          </a:solidFill>
          <a:ln/>
        </p:spPr>
      </p:sp>
      <p:sp>
        <p:nvSpPr>
          <p:cNvPr id="7" name="Text 5"/>
          <p:cNvSpPr/>
          <p:nvPr/>
        </p:nvSpPr>
        <p:spPr>
          <a:xfrm>
            <a:off x="320040" y="118872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32104" y="1097280"/>
            <a:ext cx="3557016"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Smart Overlap Detection Engine</a:t>
            </a:r>
            <a:endParaRPr lang="en-US" sz="1050" dirty="0"/>
          </a:p>
        </p:txBody>
      </p:sp>
      <p:sp>
        <p:nvSpPr>
          <p:cNvPr id="9" name="Text 7"/>
          <p:cNvSpPr/>
          <p:nvPr/>
        </p:nvSpPr>
        <p:spPr>
          <a:xfrm>
            <a:off x="832104" y="1389888"/>
            <a:ext cx="3557016" cy="554355"/>
          </a:xfrm>
          <a:prstGeom prst="rect">
            <a:avLst/>
          </a:prstGeom>
          <a:noFill/>
          <a:ln/>
        </p:spPr>
        <p:txBody>
          <a:bodyPr wrap="square" lIns="12700" tIns="38100" rIns="38100" bIns="12700" rtlCol="0" anchor="ctr">
            <a:spAutoFit/>
          </a:bodyPr>
          <a:lstStyle/>
          <a:p>
            <a:pPr marL="0" indent="0" algn="just">
              <a:buNone/>
            </a:pPr>
            <a:r>
              <a:rPr lang="en-US" sz="820" dirty="0">
                <a:solidFill>
                  <a:srgbClr val="475569"/>
                </a:solidFill>
                <a:latin typeface="Calibri" pitchFamily="34" charset="0"/>
                <a:ea typeface="Calibri" pitchFamily="34" charset="-122"/>
                <a:cs typeface="Calibri" pitchFamily="34" charset="-120"/>
              </a:rPr>
              <a:t>On every save action, the system queries all existing class entries for the same day and checks whether the new entry's start–end window conflicts with any existing slot. If a conflict is found, the save operation is blocked and a descriptive error is shown — preventing impossible schedules from ever entering the database.</a:t>
            </a:r>
            <a:endParaRPr lang="en-US" sz="820" dirty="0"/>
          </a:p>
        </p:txBody>
      </p:sp>
      <p:sp>
        <p:nvSpPr>
          <p:cNvPr id="10" name="Shape 8"/>
          <p:cNvSpPr/>
          <p:nvPr/>
        </p:nvSpPr>
        <p:spPr>
          <a:xfrm>
            <a:off x="228600" y="2090547"/>
            <a:ext cx="4251960" cy="956691"/>
          </a:xfrm>
          <a:prstGeom prst="rect">
            <a:avLst/>
          </a:prstGeom>
          <a:solidFill>
            <a:srgbClr val="F0F7FF"/>
          </a:solidFill>
          <a:ln w="12700">
            <a:solidFill>
              <a:srgbClr val="CBD5E1"/>
            </a:solidFill>
            <a:prstDash val="solid"/>
          </a:ln>
        </p:spPr>
      </p:sp>
      <p:sp>
        <p:nvSpPr>
          <p:cNvPr id="11" name="Shape 9"/>
          <p:cNvSpPr/>
          <p:nvPr/>
        </p:nvSpPr>
        <p:spPr>
          <a:xfrm>
            <a:off x="320040" y="2236851"/>
            <a:ext cx="420624" cy="420624"/>
          </a:xfrm>
          <a:prstGeom prst="line">
            <a:avLst/>
          </a:prstGeom>
          <a:solidFill>
            <a:srgbClr val="F59E0B"/>
          </a:solidFill>
          <a:ln/>
        </p:spPr>
      </p:sp>
      <p:sp>
        <p:nvSpPr>
          <p:cNvPr id="12" name="Text 10"/>
          <p:cNvSpPr/>
          <p:nvPr/>
        </p:nvSpPr>
        <p:spPr>
          <a:xfrm>
            <a:off x="320040" y="2236851"/>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832104" y="2145411"/>
            <a:ext cx="3557016"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Dual-Threshold Configurable Attendance Alerts</a:t>
            </a:r>
            <a:endParaRPr lang="en-US" sz="1050" dirty="0"/>
          </a:p>
        </p:txBody>
      </p:sp>
      <p:sp>
        <p:nvSpPr>
          <p:cNvPr id="14" name="Text 12"/>
          <p:cNvSpPr/>
          <p:nvPr/>
        </p:nvSpPr>
        <p:spPr>
          <a:xfrm>
            <a:off x="832104" y="2438019"/>
            <a:ext cx="3557016" cy="554355"/>
          </a:xfrm>
          <a:prstGeom prst="rect">
            <a:avLst/>
          </a:prstGeom>
          <a:noFill/>
          <a:ln/>
        </p:spPr>
        <p:txBody>
          <a:bodyPr wrap="square" lIns="12700" tIns="38100" rIns="38100" bIns="12700" rtlCol="0" anchor="ctr">
            <a:spAutoFit/>
          </a:bodyPr>
          <a:lstStyle/>
          <a:p>
            <a:pPr marL="0" indent="0" algn="just">
              <a:buNone/>
            </a:pPr>
            <a:r>
              <a:rPr lang="en-US" sz="820" dirty="0">
                <a:solidFill>
                  <a:srgbClr val="475569"/>
                </a:solidFill>
                <a:latin typeface="Calibri" pitchFamily="34" charset="0"/>
                <a:ea typeface="Calibri" pitchFamily="34" charset="-122"/>
                <a:cs typeface="Calibri" pitchFamily="34" charset="-120"/>
              </a:rPr>
              <a:t>The attendance tracker maintains two independently configurable thresholds: Warning and Danger. After every attendance mark, the running percentage is recalculated and compared against both thresholds. A yellow indicator appears below Warning level; a red indicator appears below Danger level — giving students immediate, actionable visibility.</a:t>
            </a:r>
            <a:endParaRPr lang="en-US" sz="820" dirty="0"/>
          </a:p>
        </p:txBody>
      </p:sp>
      <p:sp>
        <p:nvSpPr>
          <p:cNvPr id="15" name="Shape 13"/>
          <p:cNvSpPr/>
          <p:nvPr/>
        </p:nvSpPr>
        <p:spPr>
          <a:xfrm>
            <a:off x="228600" y="3138678"/>
            <a:ext cx="4251960" cy="956691"/>
          </a:xfrm>
          <a:prstGeom prst="rect">
            <a:avLst/>
          </a:prstGeom>
          <a:solidFill>
            <a:srgbClr val="F0F7FF"/>
          </a:solidFill>
          <a:ln w="12700">
            <a:solidFill>
              <a:srgbClr val="CBD5E1"/>
            </a:solidFill>
            <a:prstDash val="solid"/>
          </a:ln>
        </p:spPr>
      </p:sp>
      <p:sp>
        <p:nvSpPr>
          <p:cNvPr id="16" name="Shape 14"/>
          <p:cNvSpPr/>
          <p:nvPr/>
        </p:nvSpPr>
        <p:spPr>
          <a:xfrm>
            <a:off x="320040" y="3284982"/>
            <a:ext cx="420624" cy="420624"/>
          </a:xfrm>
          <a:prstGeom prst="line">
            <a:avLst/>
          </a:prstGeom>
          <a:solidFill>
            <a:srgbClr val="7C3AED"/>
          </a:solidFill>
          <a:ln/>
        </p:spPr>
      </p:sp>
      <p:sp>
        <p:nvSpPr>
          <p:cNvPr id="17" name="Text 15"/>
          <p:cNvSpPr/>
          <p:nvPr/>
        </p:nvSpPr>
        <p:spPr>
          <a:xfrm>
            <a:off x="320040" y="328498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32104" y="3193542"/>
            <a:ext cx="3557016"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45-Day Semester Lifecycle Automation</a:t>
            </a:r>
            <a:endParaRPr lang="en-US" sz="1050" dirty="0"/>
          </a:p>
        </p:txBody>
      </p:sp>
      <p:sp>
        <p:nvSpPr>
          <p:cNvPr id="19" name="Text 17"/>
          <p:cNvSpPr/>
          <p:nvPr/>
        </p:nvSpPr>
        <p:spPr>
          <a:xfrm>
            <a:off x="832104" y="3486150"/>
            <a:ext cx="3557016" cy="554355"/>
          </a:xfrm>
          <a:prstGeom prst="rect">
            <a:avLst/>
          </a:prstGeom>
          <a:noFill/>
          <a:ln/>
        </p:spPr>
        <p:txBody>
          <a:bodyPr wrap="square" lIns="12700" tIns="38100" rIns="38100" bIns="12700" rtlCol="0" anchor="ctr">
            <a:spAutoFit/>
          </a:bodyPr>
          <a:lstStyle/>
          <a:p>
            <a:pPr marL="0" indent="0" algn="just">
              <a:buNone/>
            </a:pPr>
            <a:r>
              <a:rPr lang="en-US" sz="820" dirty="0">
                <a:solidFill>
                  <a:srgbClr val="475569"/>
                </a:solidFill>
                <a:latin typeface="Calibri" pitchFamily="34" charset="0"/>
                <a:ea typeface="Calibri" pitchFamily="34" charset="-122"/>
                <a:cs typeface="Calibri" pitchFamily="34" charset="-120"/>
              </a:rPr>
              <a:t>When the app is first configured, the current date is stored as the timetable creation timestamp. On every subsequent launch, the background checker calculates elapsed days. At 45 days, a dialog prompts the student to clear all class and attendance data for the new semester. A 7-day deferral option is offered for students whose semester has not yet transitioned.</a:t>
            </a:r>
            <a:endParaRPr lang="en-US" sz="820" dirty="0"/>
          </a:p>
        </p:txBody>
      </p:sp>
      <p:sp>
        <p:nvSpPr>
          <p:cNvPr id="20" name="Shape 18"/>
          <p:cNvSpPr/>
          <p:nvPr/>
        </p:nvSpPr>
        <p:spPr>
          <a:xfrm>
            <a:off x="228600" y="4186809"/>
            <a:ext cx="4251960" cy="956691"/>
          </a:xfrm>
          <a:prstGeom prst="rect">
            <a:avLst/>
          </a:prstGeom>
          <a:solidFill>
            <a:srgbClr val="F0F7FF"/>
          </a:solidFill>
          <a:ln w="12700">
            <a:solidFill>
              <a:srgbClr val="CBD5E1"/>
            </a:solidFill>
            <a:prstDash val="solid"/>
          </a:ln>
        </p:spPr>
      </p:sp>
      <p:sp>
        <p:nvSpPr>
          <p:cNvPr id="21" name="Shape 19"/>
          <p:cNvSpPr/>
          <p:nvPr/>
        </p:nvSpPr>
        <p:spPr>
          <a:xfrm>
            <a:off x="320040" y="4333113"/>
            <a:ext cx="420624" cy="420624"/>
          </a:xfrm>
          <a:prstGeom prst="line">
            <a:avLst/>
          </a:prstGeom>
          <a:solidFill>
            <a:srgbClr val="1565C0"/>
          </a:solidFill>
          <a:ln/>
        </p:spPr>
      </p:sp>
      <p:sp>
        <p:nvSpPr>
          <p:cNvPr id="22" name="Text 20"/>
          <p:cNvSpPr/>
          <p:nvPr/>
        </p:nvSpPr>
        <p:spPr>
          <a:xfrm>
            <a:off x="320040" y="4333113"/>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832104" y="4241673"/>
            <a:ext cx="3557016"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University-Standard 9-Slot Landscape PDF Export</a:t>
            </a:r>
            <a:endParaRPr lang="en-US" sz="1050" dirty="0"/>
          </a:p>
        </p:txBody>
      </p:sp>
      <p:sp>
        <p:nvSpPr>
          <p:cNvPr id="24" name="Text 22"/>
          <p:cNvSpPr/>
          <p:nvPr/>
        </p:nvSpPr>
        <p:spPr>
          <a:xfrm>
            <a:off x="832104" y="4534281"/>
            <a:ext cx="3557016" cy="554355"/>
          </a:xfrm>
          <a:prstGeom prst="rect">
            <a:avLst/>
          </a:prstGeom>
          <a:noFill/>
          <a:ln/>
        </p:spPr>
        <p:txBody>
          <a:bodyPr wrap="square" lIns="12700" tIns="38100" rIns="38100" bIns="12700" rtlCol="0" anchor="ctr">
            <a:spAutoFit/>
          </a:bodyPr>
          <a:lstStyle/>
          <a:p>
            <a:pPr marL="0" indent="0" algn="just">
              <a:buNone/>
            </a:pPr>
            <a:r>
              <a:rPr lang="en-US" sz="820" dirty="0">
                <a:solidFill>
                  <a:srgbClr val="475569"/>
                </a:solidFill>
                <a:latin typeface="Calibri" pitchFamily="34" charset="0"/>
                <a:ea typeface="Calibri" pitchFamily="34" charset="-122"/>
                <a:cs typeface="Calibri" pitchFamily="34" charset="-120"/>
              </a:rPr>
              <a:t>The PDF engine constructs a structured A4 landscape document with 9 time-slot columns (8:00 AM to 4:50 PM), a Lunch column, one row per working day, and a subject legend table. The file can be shared via WhatsApp, email, or saved to Downloads instantly.</a:t>
            </a:r>
            <a:endParaRPr lang="en-US" sz="820" dirty="0"/>
          </a:p>
        </p:txBody>
      </p:sp>
      <p:sp>
        <p:nvSpPr>
          <p:cNvPr id="25" name="Shape 23"/>
          <p:cNvSpPr/>
          <p:nvPr/>
        </p:nvSpPr>
        <p:spPr>
          <a:xfrm>
            <a:off x="4709160" y="1042416"/>
            <a:ext cx="4251960" cy="1290828"/>
          </a:xfrm>
          <a:prstGeom prst="rect">
            <a:avLst/>
          </a:prstGeom>
          <a:solidFill>
            <a:srgbClr val="F0F7FF"/>
          </a:solidFill>
          <a:ln w="12700">
            <a:solidFill>
              <a:srgbClr val="CBD5E1"/>
            </a:solidFill>
            <a:prstDash val="solid"/>
          </a:ln>
        </p:spPr>
      </p:sp>
      <p:sp>
        <p:nvSpPr>
          <p:cNvPr id="26" name="Shape 24"/>
          <p:cNvSpPr/>
          <p:nvPr/>
        </p:nvSpPr>
        <p:spPr>
          <a:xfrm>
            <a:off x="4800600" y="1188720"/>
            <a:ext cx="420624" cy="420624"/>
          </a:xfrm>
          <a:prstGeom prst="line">
            <a:avLst/>
          </a:prstGeom>
          <a:solidFill>
            <a:srgbClr val="10B981"/>
          </a:solidFill>
          <a:ln/>
        </p:spPr>
      </p:sp>
      <p:sp>
        <p:nvSpPr>
          <p:cNvPr id="27" name="Text 25"/>
          <p:cNvSpPr/>
          <p:nvPr/>
        </p:nvSpPr>
        <p:spPr>
          <a:xfrm>
            <a:off x="4800600" y="118872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5312664" y="1097280"/>
            <a:ext cx="3557016"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Dynamic Working Day Configuration</a:t>
            </a:r>
            <a:endParaRPr lang="en-US" sz="1050" dirty="0"/>
          </a:p>
        </p:txBody>
      </p:sp>
      <p:sp>
        <p:nvSpPr>
          <p:cNvPr id="29" name="Text 27"/>
          <p:cNvSpPr/>
          <p:nvPr/>
        </p:nvSpPr>
        <p:spPr>
          <a:xfrm>
            <a:off x="5312664" y="1389888"/>
            <a:ext cx="3557016" cy="888492"/>
          </a:xfrm>
          <a:prstGeom prst="rect">
            <a:avLst/>
          </a:prstGeom>
          <a:noFill/>
          <a:ln/>
        </p:spPr>
        <p:txBody>
          <a:bodyPr wrap="square" lIns="12700" tIns="38100" rIns="38100" bIns="12700" rtlCol="0" anchor="ctr">
            <a:spAutoFit/>
          </a:bodyPr>
          <a:lstStyle/>
          <a:p>
            <a:pPr marL="0" indent="0" algn="just">
              <a:buNone/>
            </a:pPr>
            <a:r>
              <a:rPr lang="en-US" sz="820" dirty="0">
                <a:solidFill>
                  <a:srgbClr val="475569"/>
                </a:solidFill>
                <a:latin typeface="Calibri" pitchFamily="34" charset="0"/>
                <a:ea typeface="Calibri" pitchFamily="34" charset="-122"/>
                <a:cs typeface="Calibri" pitchFamily="34" charset="-120"/>
              </a:rPr>
              <a:t>Students configure their institution's active days (Mon–Sat or any subset) in Settings. Disabled days are immediately removed from timetable tabs, class-addition dropdowns, and the PDF export — ensuring the entire application adapts to the institution's academic calendar without manual workarounds.</a:t>
            </a:r>
            <a:endParaRPr lang="en-US" sz="820" dirty="0"/>
          </a:p>
        </p:txBody>
      </p:sp>
      <p:sp>
        <p:nvSpPr>
          <p:cNvPr id="30" name="Shape 28"/>
          <p:cNvSpPr/>
          <p:nvPr/>
        </p:nvSpPr>
        <p:spPr>
          <a:xfrm>
            <a:off x="4709160" y="2447544"/>
            <a:ext cx="4251960" cy="1290828"/>
          </a:xfrm>
          <a:prstGeom prst="rect">
            <a:avLst/>
          </a:prstGeom>
          <a:solidFill>
            <a:srgbClr val="F0F7FF"/>
          </a:solidFill>
          <a:ln w="12700">
            <a:solidFill>
              <a:srgbClr val="CBD5E1"/>
            </a:solidFill>
            <a:prstDash val="solid"/>
          </a:ln>
        </p:spPr>
      </p:sp>
      <p:sp>
        <p:nvSpPr>
          <p:cNvPr id="31" name="Shape 29"/>
          <p:cNvSpPr/>
          <p:nvPr/>
        </p:nvSpPr>
        <p:spPr>
          <a:xfrm>
            <a:off x="4800600" y="2593848"/>
            <a:ext cx="420624" cy="420624"/>
          </a:xfrm>
          <a:prstGeom prst="line">
            <a:avLst/>
          </a:prstGeom>
          <a:solidFill>
            <a:srgbClr val="06B6D4"/>
          </a:solidFill>
          <a:ln/>
        </p:spPr>
      </p:sp>
      <p:sp>
        <p:nvSpPr>
          <p:cNvPr id="32" name="Text 30"/>
          <p:cNvSpPr/>
          <p:nvPr/>
        </p:nvSpPr>
        <p:spPr>
          <a:xfrm>
            <a:off x="4800600" y="25938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5312664" y="2502408"/>
            <a:ext cx="3557016"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Dual-Architecture V1 + V2 Backward Compatibility</a:t>
            </a:r>
            <a:endParaRPr lang="en-US" sz="1050" dirty="0"/>
          </a:p>
        </p:txBody>
      </p:sp>
      <p:sp>
        <p:nvSpPr>
          <p:cNvPr id="34" name="Text 32"/>
          <p:cNvSpPr/>
          <p:nvPr/>
        </p:nvSpPr>
        <p:spPr>
          <a:xfrm>
            <a:off x="5312664" y="2795016"/>
            <a:ext cx="3557016" cy="888492"/>
          </a:xfrm>
          <a:prstGeom prst="rect">
            <a:avLst/>
          </a:prstGeom>
          <a:noFill/>
          <a:ln/>
        </p:spPr>
        <p:txBody>
          <a:bodyPr wrap="square" lIns="12700" tIns="38100" rIns="38100" bIns="12700" rtlCol="0" anchor="ctr">
            <a:spAutoFit/>
          </a:bodyPr>
          <a:lstStyle/>
          <a:p>
            <a:pPr marL="0" indent="0" algn="just">
              <a:buNone/>
            </a:pPr>
            <a:r>
              <a:rPr lang="en-US" sz="820" dirty="0">
                <a:solidFill>
                  <a:srgbClr val="475569"/>
                </a:solidFill>
                <a:latin typeface="Calibri" pitchFamily="34" charset="0"/>
                <a:ea typeface="Calibri" pitchFamily="34" charset="-122"/>
                <a:cs typeface="Calibri" pitchFamily="34" charset="-120"/>
              </a:rPr>
              <a:t>Both V1 and V2 providers are registered and run in parallel at application startup. V1 class entries remain fully readable and manageable by the V1 provider while all V2 features operate alongside them. This demonstrates a professional approach to incremental software evolution without requiring data migration or breaking existing records.</a:t>
            </a:r>
            <a:endParaRPr lang="en-US" sz="820" dirty="0"/>
          </a:p>
        </p:txBody>
      </p:sp>
      <p:sp>
        <p:nvSpPr>
          <p:cNvPr id="35" name="Shape 33"/>
          <p:cNvSpPr/>
          <p:nvPr/>
        </p:nvSpPr>
        <p:spPr>
          <a:xfrm>
            <a:off x="4709160" y="3852672"/>
            <a:ext cx="4251960" cy="1290828"/>
          </a:xfrm>
          <a:prstGeom prst="rect">
            <a:avLst/>
          </a:prstGeom>
          <a:solidFill>
            <a:srgbClr val="F0F7FF"/>
          </a:solidFill>
          <a:ln w="12700">
            <a:solidFill>
              <a:srgbClr val="CBD5E1"/>
            </a:solidFill>
            <a:prstDash val="solid"/>
          </a:ln>
        </p:spPr>
      </p:sp>
      <p:sp>
        <p:nvSpPr>
          <p:cNvPr id="36" name="Shape 34"/>
          <p:cNvSpPr/>
          <p:nvPr/>
        </p:nvSpPr>
        <p:spPr>
          <a:xfrm>
            <a:off x="4800600" y="3998976"/>
            <a:ext cx="420624" cy="420624"/>
          </a:xfrm>
          <a:prstGeom prst="line">
            <a:avLst/>
          </a:prstGeom>
          <a:solidFill>
            <a:srgbClr val="EC4899"/>
          </a:solidFill>
          <a:ln/>
        </p:spPr>
      </p:sp>
      <p:sp>
        <p:nvSpPr>
          <p:cNvPr id="37" name="Text 35"/>
          <p:cNvSpPr/>
          <p:nvPr/>
        </p:nvSpPr>
        <p:spPr>
          <a:xfrm>
            <a:off x="4800600" y="399897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8" name="Text 36"/>
          <p:cNvSpPr/>
          <p:nvPr/>
        </p:nvSpPr>
        <p:spPr>
          <a:xfrm>
            <a:off x="5312664" y="3907536"/>
            <a:ext cx="3557016"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Fully Offline, Zero-Login Architecture</a:t>
            </a:r>
            <a:endParaRPr lang="en-US" sz="1050" dirty="0"/>
          </a:p>
        </p:txBody>
      </p:sp>
      <p:sp>
        <p:nvSpPr>
          <p:cNvPr id="39" name="Text 37"/>
          <p:cNvSpPr/>
          <p:nvPr/>
        </p:nvSpPr>
        <p:spPr>
          <a:xfrm>
            <a:off x="5312664" y="4200144"/>
            <a:ext cx="3557016" cy="888492"/>
          </a:xfrm>
          <a:prstGeom prst="rect">
            <a:avLst/>
          </a:prstGeom>
          <a:noFill/>
          <a:ln/>
        </p:spPr>
        <p:txBody>
          <a:bodyPr wrap="square" lIns="12700" tIns="38100" rIns="38100" bIns="12700" rtlCol="0" anchor="ctr">
            <a:spAutoFit/>
          </a:bodyPr>
          <a:lstStyle/>
          <a:p>
            <a:pPr marL="0" indent="0" algn="just">
              <a:buNone/>
            </a:pPr>
            <a:r>
              <a:rPr lang="en-US" sz="820" dirty="0">
                <a:solidFill>
                  <a:srgbClr val="475569"/>
                </a:solidFill>
                <a:latin typeface="Calibri" pitchFamily="34" charset="0"/>
                <a:ea typeface="Calibri" pitchFamily="34" charset="-122"/>
                <a:cs typeface="Calibri" pitchFamily="34" charset="-120"/>
              </a:rPr>
              <a:t>Every capability — timetable management, attendance tracking, PDF generation, and local notifications — functions entirely without an internet connection, a remote server, or a user account. This is a deliberate architectural decision ensuring the application remains accessible to all students regardless of their device data plan or network environment.</a:t>
            </a:r>
            <a:endParaRPr lang="en-US" sz="820" dirty="0"/>
          </a:p>
        </p:txBody>
      </p:sp>
    </p:spTree>
    <p:extLst>
      <p:ext uri="{BB962C8B-B14F-4D97-AF65-F5344CB8AC3E}">
        <p14:creationId xmlns:p14="http://schemas.microsoft.com/office/powerpoint/2010/main" val="28667068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137"/>
          </a:solidFill>
          <a:ln/>
        </p:spPr>
      </p:sp>
      <p:sp>
        <p:nvSpPr>
          <p:cNvPr id="3" name="Text 1"/>
          <p:cNvSpPr/>
          <p:nvPr/>
        </p:nvSpPr>
        <p:spPr>
          <a:xfrm>
            <a:off x="320040" y="0"/>
            <a:ext cx="8503920" cy="56692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Project Demonstration</a:t>
            </a:r>
            <a:endParaRPr lang="en-US" sz="2200" dirty="0"/>
          </a:p>
        </p:txBody>
      </p:sp>
      <p:sp>
        <p:nvSpPr>
          <p:cNvPr id="4" name="Text 2"/>
          <p:cNvSpPr/>
          <p:nvPr/>
        </p:nvSpPr>
        <p:spPr>
          <a:xfrm>
            <a:off x="228600" y="658368"/>
            <a:ext cx="8686800" cy="347472"/>
          </a:xfrm>
          <a:prstGeom prst="rect">
            <a:avLst/>
          </a:prstGeom>
          <a:noFill/>
          <a:ln/>
        </p:spPr>
        <p:txBody>
          <a:bodyPr wrap="square" lIns="25400" tIns="50800" rIns="50800" bIns="25400" rtlCol="0" anchor="ctr"/>
          <a:lstStyle/>
          <a:p>
            <a:pPr marL="0" indent="0" algn="just">
              <a:buNone/>
            </a:pPr>
            <a:r>
              <a:rPr lang="en-US" sz="1150" i="1" dirty="0">
                <a:solidFill>
                  <a:srgbClr val="90CAF9"/>
                </a:solidFill>
                <a:latin typeface="Calibri" pitchFamily="34" charset="0"/>
                <a:ea typeface="Calibri" pitchFamily="34" charset="-122"/>
                <a:cs typeface="Calibri" pitchFamily="34" charset="-120"/>
              </a:rPr>
              <a:t>The following walkthrough describes the complete user journey through SchedIQ from first launch to semester-end reset.</a:t>
            </a:r>
            <a:endParaRPr lang="en-US" sz="1150" dirty="0"/>
          </a:p>
        </p:txBody>
      </p:sp>
      <p:sp>
        <p:nvSpPr>
          <p:cNvPr id="5" name="Shape 3"/>
          <p:cNvSpPr/>
          <p:nvPr/>
        </p:nvSpPr>
        <p:spPr>
          <a:xfrm>
            <a:off x="228600" y="1042416"/>
            <a:ext cx="4251960" cy="877824"/>
          </a:xfrm>
          <a:prstGeom prst="rect">
            <a:avLst/>
          </a:prstGeom>
          <a:solidFill>
            <a:srgbClr val="0D2137"/>
          </a:solidFill>
          <a:ln w="12700">
            <a:solidFill>
              <a:srgbClr val="1E3A5F"/>
            </a:solidFill>
            <a:prstDash val="solid"/>
          </a:ln>
        </p:spPr>
      </p:sp>
      <p:sp>
        <p:nvSpPr>
          <p:cNvPr id="6" name="Shape 4"/>
          <p:cNvSpPr/>
          <p:nvPr/>
        </p:nvSpPr>
        <p:spPr>
          <a:xfrm>
            <a:off x="320040" y="1225296"/>
            <a:ext cx="457200" cy="457200"/>
          </a:xfrm>
          <a:prstGeom prst="line">
            <a:avLst/>
          </a:prstGeom>
          <a:solidFill>
            <a:srgbClr val="00B4D8"/>
          </a:solidFill>
          <a:ln/>
        </p:spPr>
      </p:sp>
      <p:sp>
        <p:nvSpPr>
          <p:cNvPr id="7" name="Text 5"/>
          <p:cNvSpPr/>
          <p:nvPr/>
        </p:nvSpPr>
        <p:spPr>
          <a:xfrm>
            <a:off x="320040" y="1225296"/>
            <a:ext cx="457200" cy="457200"/>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868680" y="1097280"/>
            <a:ext cx="3520440" cy="274320"/>
          </a:xfrm>
          <a:prstGeom prst="rect">
            <a:avLst/>
          </a:prstGeom>
          <a:noFill/>
          <a:ln/>
        </p:spPr>
        <p:txBody>
          <a:bodyPr wrap="square" lIns="0" tIns="0" rIns="0" bIns="0" rtlCol="0" anchor="ctr"/>
          <a:lstStyle/>
          <a:p>
            <a:pPr marL="0" indent="0">
              <a:buNone/>
            </a:pPr>
            <a:r>
              <a:rPr lang="en-US" sz="1050" b="1" dirty="0">
                <a:solidFill>
                  <a:srgbClr val="00B4D8"/>
                </a:solidFill>
                <a:latin typeface="Calibri" pitchFamily="34" charset="0"/>
                <a:ea typeface="Calibri" pitchFamily="34" charset="-122"/>
                <a:cs typeface="Calibri" pitchFamily="34" charset="-120"/>
              </a:rPr>
              <a:t>Step 1 — Launch &amp; Onboarding</a:t>
            </a:r>
            <a:endParaRPr lang="en-US" sz="1050" dirty="0"/>
          </a:p>
        </p:txBody>
      </p:sp>
      <p:sp>
        <p:nvSpPr>
          <p:cNvPr id="9" name="Text 7"/>
          <p:cNvSpPr/>
          <p:nvPr/>
        </p:nvSpPr>
        <p:spPr>
          <a:xfrm>
            <a:off x="868680" y="1371600"/>
            <a:ext cx="3520440" cy="512064"/>
          </a:xfrm>
          <a:prstGeom prst="rect">
            <a:avLst/>
          </a:prstGeom>
          <a:noFill/>
          <a:ln/>
        </p:spPr>
        <p:txBody>
          <a:bodyPr wrap="square" lIns="12700" tIns="38100" rIns="38100" bIns="12700" rtlCol="0" anchor="ctr"/>
          <a:lstStyle/>
          <a:p>
            <a:pPr marL="0" indent="0" algn="just">
              <a:buNone/>
            </a:pPr>
            <a:r>
              <a:rPr lang="en-US" sz="880" dirty="0">
                <a:solidFill>
                  <a:srgbClr val="CBD5E1"/>
                </a:solidFill>
                <a:latin typeface="Calibri" pitchFamily="34" charset="0"/>
                <a:ea typeface="Calibri" pitchFamily="34" charset="-122"/>
                <a:cs typeface="Calibri" pitchFamily="34" charset="-120"/>
              </a:rPr>
              <a:t>On first launch, a sleek onboarding screen guides the student through the app's capabilities. It appears once only. Tapping Get Started initialises all six data providers and loads the main shell.</a:t>
            </a:r>
            <a:endParaRPr lang="en-US" sz="880" dirty="0"/>
          </a:p>
        </p:txBody>
      </p:sp>
      <p:sp>
        <p:nvSpPr>
          <p:cNvPr id="10" name="Shape 8"/>
          <p:cNvSpPr/>
          <p:nvPr/>
        </p:nvSpPr>
        <p:spPr>
          <a:xfrm>
            <a:off x="228600" y="2048256"/>
            <a:ext cx="4251960" cy="877824"/>
          </a:xfrm>
          <a:prstGeom prst="rect">
            <a:avLst/>
          </a:prstGeom>
          <a:solidFill>
            <a:srgbClr val="0D2137"/>
          </a:solidFill>
          <a:ln w="12700">
            <a:solidFill>
              <a:srgbClr val="1E3A5F"/>
            </a:solidFill>
            <a:prstDash val="solid"/>
          </a:ln>
        </p:spPr>
      </p:sp>
      <p:sp>
        <p:nvSpPr>
          <p:cNvPr id="11" name="Shape 9"/>
          <p:cNvSpPr/>
          <p:nvPr/>
        </p:nvSpPr>
        <p:spPr>
          <a:xfrm>
            <a:off x="320040" y="2231136"/>
            <a:ext cx="457200" cy="457200"/>
          </a:xfrm>
          <a:prstGeom prst="line">
            <a:avLst/>
          </a:prstGeom>
          <a:solidFill>
            <a:srgbClr val="10B981"/>
          </a:solidFill>
          <a:ln/>
        </p:spPr>
      </p:sp>
      <p:sp>
        <p:nvSpPr>
          <p:cNvPr id="12" name="Text 10"/>
          <p:cNvSpPr/>
          <p:nvPr/>
        </p:nvSpPr>
        <p:spPr>
          <a:xfrm>
            <a:off x="320040" y="2231136"/>
            <a:ext cx="457200" cy="457200"/>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868680" y="2103120"/>
            <a:ext cx="3520440" cy="274320"/>
          </a:xfrm>
          <a:prstGeom prst="rect">
            <a:avLst/>
          </a:prstGeom>
          <a:noFill/>
          <a:ln/>
        </p:spPr>
        <p:txBody>
          <a:bodyPr wrap="square" lIns="0" tIns="0" rIns="0" bIns="0" rtlCol="0" anchor="ctr"/>
          <a:lstStyle/>
          <a:p>
            <a:pPr marL="0" indent="0">
              <a:buNone/>
            </a:pPr>
            <a:r>
              <a:rPr lang="en-US" sz="1050" b="1" dirty="0">
                <a:solidFill>
                  <a:srgbClr val="10B981"/>
                </a:solidFill>
                <a:latin typeface="Calibri" pitchFamily="34" charset="0"/>
                <a:ea typeface="Calibri" pitchFamily="34" charset="-122"/>
                <a:cs typeface="Calibri" pitchFamily="34" charset="-120"/>
              </a:rPr>
              <a:t>Step 2 — Dashboard / Home Screen</a:t>
            </a:r>
            <a:endParaRPr lang="en-US" sz="1050" dirty="0"/>
          </a:p>
        </p:txBody>
      </p:sp>
      <p:sp>
        <p:nvSpPr>
          <p:cNvPr id="14" name="Text 12"/>
          <p:cNvSpPr/>
          <p:nvPr/>
        </p:nvSpPr>
        <p:spPr>
          <a:xfrm>
            <a:off x="868680" y="2377440"/>
            <a:ext cx="3520440" cy="512064"/>
          </a:xfrm>
          <a:prstGeom prst="rect">
            <a:avLst/>
          </a:prstGeom>
          <a:noFill/>
          <a:ln/>
        </p:spPr>
        <p:txBody>
          <a:bodyPr wrap="square" lIns="12700" tIns="38100" rIns="38100" bIns="12700" rtlCol="0" anchor="ctr"/>
          <a:lstStyle/>
          <a:p>
            <a:pPr marL="0" indent="0" algn="just">
              <a:buNone/>
            </a:pPr>
            <a:r>
              <a:rPr lang="en-US" sz="880" dirty="0">
                <a:solidFill>
                  <a:srgbClr val="CBD5E1"/>
                </a:solidFill>
                <a:latin typeface="Calibri" pitchFamily="34" charset="0"/>
                <a:ea typeface="Calibri" pitchFamily="34" charset="-122"/>
                <a:cs typeface="Calibri" pitchFamily="34" charset="-120"/>
              </a:rPr>
              <a:t>The home screen automatically displays the timetable for the current day. A tab bar lists abbreviated day names with a dot indicator on today's tab. If no classes have been added, a friendly empty-state prompt is shown with instructions.</a:t>
            </a:r>
            <a:endParaRPr lang="en-US" sz="880" dirty="0"/>
          </a:p>
        </p:txBody>
      </p:sp>
      <p:sp>
        <p:nvSpPr>
          <p:cNvPr id="15" name="Shape 13"/>
          <p:cNvSpPr/>
          <p:nvPr/>
        </p:nvSpPr>
        <p:spPr>
          <a:xfrm>
            <a:off x="228600" y="3054096"/>
            <a:ext cx="4251960" cy="877824"/>
          </a:xfrm>
          <a:prstGeom prst="rect">
            <a:avLst/>
          </a:prstGeom>
          <a:solidFill>
            <a:srgbClr val="0D2137"/>
          </a:solidFill>
          <a:ln w="12700">
            <a:solidFill>
              <a:srgbClr val="1E3A5F"/>
            </a:solidFill>
            <a:prstDash val="solid"/>
          </a:ln>
        </p:spPr>
      </p:sp>
      <p:sp>
        <p:nvSpPr>
          <p:cNvPr id="16" name="Shape 14"/>
          <p:cNvSpPr/>
          <p:nvPr/>
        </p:nvSpPr>
        <p:spPr>
          <a:xfrm>
            <a:off x="320040" y="3236976"/>
            <a:ext cx="457200" cy="457200"/>
          </a:xfrm>
          <a:prstGeom prst="line">
            <a:avLst/>
          </a:prstGeom>
          <a:solidFill>
            <a:srgbClr val="F59E0B"/>
          </a:solidFill>
          <a:ln/>
        </p:spPr>
      </p:sp>
      <p:sp>
        <p:nvSpPr>
          <p:cNvPr id="17" name="Text 15"/>
          <p:cNvSpPr/>
          <p:nvPr/>
        </p:nvSpPr>
        <p:spPr>
          <a:xfrm>
            <a:off x="320040" y="3236976"/>
            <a:ext cx="457200" cy="457200"/>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868680" y="3108960"/>
            <a:ext cx="3520440" cy="274320"/>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Step 3 — Adding a New Class</a:t>
            </a:r>
            <a:endParaRPr lang="en-US" sz="1050" dirty="0"/>
          </a:p>
        </p:txBody>
      </p:sp>
      <p:sp>
        <p:nvSpPr>
          <p:cNvPr id="19" name="Text 17"/>
          <p:cNvSpPr/>
          <p:nvPr/>
        </p:nvSpPr>
        <p:spPr>
          <a:xfrm>
            <a:off x="868680" y="3383280"/>
            <a:ext cx="3520440" cy="512064"/>
          </a:xfrm>
          <a:prstGeom prst="rect">
            <a:avLst/>
          </a:prstGeom>
          <a:noFill/>
          <a:ln/>
        </p:spPr>
        <p:txBody>
          <a:bodyPr wrap="square" lIns="12700" tIns="38100" rIns="38100" bIns="12700" rtlCol="0" anchor="ctr"/>
          <a:lstStyle/>
          <a:p>
            <a:pPr marL="0" indent="0" algn="just">
              <a:buNone/>
            </a:pPr>
            <a:r>
              <a:rPr lang="en-US" sz="880" dirty="0">
                <a:solidFill>
                  <a:srgbClr val="CBD5E1"/>
                </a:solidFill>
                <a:latin typeface="Calibri" pitchFamily="34" charset="0"/>
                <a:ea typeface="Calibri" pitchFamily="34" charset="-122"/>
                <a:cs typeface="Calibri" pitchFamily="34" charset="-120"/>
              </a:rPr>
              <a:t>The student taps Add Class and fills in the subject, day, start time, end time, and room. On Save, the overlap engine queries the database. If the slot is free the entry is saved; if a conflict is detected, the form shows an error and the entry is not saved.</a:t>
            </a:r>
            <a:endParaRPr lang="en-US" sz="880" dirty="0"/>
          </a:p>
        </p:txBody>
      </p:sp>
      <p:sp>
        <p:nvSpPr>
          <p:cNvPr id="20" name="Shape 18"/>
          <p:cNvSpPr/>
          <p:nvPr/>
        </p:nvSpPr>
        <p:spPr>
          <a:xfrm>
            <a:off x="228600" y="4059936"/>
            <a:ext cx="4251960" cy="877824"/>
          </a:xfrm>
          <a:prstGeom prst="rect">
            <a:avLst/>
          </a:prstGeom>
          <a:solidFill>
            <a:srgbClr val="0D2137"/>
          </a:solidFill>
          <a:ln w="12700">
            <a:solidFill>
              <a:srgbClr val="1E3A5F"/>
            </a:solidFill>
            <a:prstDash val="solid"/>
          </a:ln>
        </p:spPr>
      </p:sp>
      <p:sp>
        <p:nvSpPr>
          <p:cNvPr id="21" name="Shape 19"/>
          <p:cNvSpPr/>
          <p:nvPr/>
        </p:nvSpPr>
        <p:spPr>
          <a:xfrm>
            <a:off x="320040" y="4242816"/>
            <a:ext cx="457200" cy="457200"/>
          </a:xfrm>
          <a:prstGeom prst="line">
            <a:avLst/>
          </a:prstGeom>
          <a:solidFill>
            <a:srgbClr val="EF4444"/>
          </a:solidFill>
          <a:ln/>
        </p:spPr>
      </p:sp>
      <p:sp>
        <p:nvSpPr>
          <p:cNvPr id="22" name="Text 20"/>
          <p:cNvSpPr/>
          <p:nvPr/>
        </p:nvSpPr>
        <p:spPr>
          <a:xfrm>
            <a:off x="320040" y="4242816"/>
            <a:ext cx="457200" cy="457200"/>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868680" y="4114800"/>
            <a:ext cx="3520440" cy="274320"/>
          </a:xfrm>
          <a:prstGeom prst="rect">
            <a:avLst/>
          </a:prstGeom>
          <a:noFill/>
          <a:ln/>
        </p:spPr>
        <p:txBody>
          <a:bodyPr wrap="square" lIns="0" tIns="0" rIns="0" bIns="0" rtlCol="0" anchor="ctr"/>
          <a:lstStyle/>
          <a:p>
            <a:pPr marL="0" indent="0">
              <a:buNone/>
            </a:pPr>
            <a:r>
              <a:rPr lang="en-US" sz="1050" b="1" dirty="0">
                <a:solidFill>
                  <a:srgbClr val="EF4444"/>
                </a:solidFill>
                <a:latin typeface="Calibri" pitchFamily="34" charset="0"/>
                <a:ea typeface="Calibri" pitchFamily="34" charset="-122"/>
                <a:cs typeface="Calibri" pitchFamily="34" charset="-120"/>
              </a:rPr>
              <a:t>Step 4 — Marking Attendance</a:t>
            </a:r>
            <a:endParaRPr lang="en-US" sz="1050" dirty="0"/>
          </a:p>
        </p:txBody>
      </p:sp>
      <p:sp>
        <p:nvSpPr>
          <p:cNvPr id="24" name="Text 22"/>
          <p:cNvSpPr/>
          <p:nvPr/>
        </p:nvSpPr>
        <p:spPr>
          <a:xfrm>
            <a:off x="868680" y="4389120"/>
            <a:ext cx="3520440" cy="512064"/>
          </a:xfrm>
          <a:prstGeom prst="rect">
            <a:avLst/>
          </a:prstGeom>
          <a:noFill/>
          <a:ln/>
        </p:spPr>
        <p:txBody>
          <a:bodyPr wrap="square" lIns="12700" tIns="38100" rIns="38100" bIns="12700" rtlCol="0" anchor="ctr"/>
          <a:lstStyle/>
          <a:p>
            <a:pPr marL="0" indent="0" algn="just">
              <a:buNone/>
            </a:pPr>
            <a:r>
              <a:rPr lang="en-US" sz="880" dirty="0">
                <a:solidFill>
                  <a:srgbClr val="CBD5E1"/>
                </a:solidFill>
                <a:latin typeface="Calibri" pitchFamily="34" charset="0"/>
                <a:ea typeface="Calibri" pitchFamily="34" charset="-122"/>
                <a:cs typeface="Calibri" pitchFamily="34" charset="-120"/>
              </a:rPr>
              <a:t>After each class, the student marks Present or Absent. The Attendance screen immediately recalculates the running percentage per subject. If it drops below the Warning threshold a yellow alert appears; below Danger a red alert is shown.</a:t>
            </a:r>
            <a:endParaRPr lang="en-US" sz="880" dirty="0"/>
          </a:p>
        </p:txBody>
      </p:sp>
      <p:sp>
        <p:nvSpPr>
          <p:cNvPr id="25" name="Shape 23"/>
          <p:cNvSpPr/>
          <p:nvPr/>
        </p:nvSpPr>
        <p:spPr>
          <a:xfrm>
            <a:off x="4709160" y="2048256"/>
            <a:ext cx="4251960" cy="877824"/>
          </a:xfrm>
          <a:prstGeom prst="rect">
            <a:avLst/>
          </a:prstGeom>
          <a:solidFill>
            <a:srgbClr val="0D2137"/>
          </a:solidFill>
          <a:ln w="12700">
            <a:solidFill>
              <a:srgbClr val="1E3A5F"/>
            </a:solidFill>
            <a:prstDash val="solid"/>
          </a:ln>
        </p:spPr>
      </p:sp>
      <p:sp>
        <p:nvSpPr>
          <p:cNvPr id="26" name="Shape 24"/>
          <p:cNvSpPr/>
          <p:nvPr/>
        </p:nvSpPr>
        <p:spPr>
          <a:xfrm>
            <a:off x="4800600" y="2231136"/>
            <a:ext cx="457200" cy="457200"/>
          </a:xfrm>
          <a:prstGeom prst="line">
            <a:avLst/>
          </a:prstGeom>
          <a:solidFill>
            <a:srgbClr val="7C3AED"/>
          </a:solidFill>
          <a:ln/>
        </p:spPr>
      </p:sp>
      <p:sp>
        <p:nvSpPr>
          <p:cNvPr id="27" name="Text 25"/>
          <p:cNvSpPr/>
          <p:nvPr/>
        </p:nvSpPr>
        <p:spPr>
          <a:xfrm>
            <a:off x="4800600" y="2231136"/>
            <a:ext cx="457200" cy="457200"/>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5349240" y="2103120"/>
            <a:ext cx="3520440" cy="274320"/>
          </a:xfrm>
          <a:prstGeom prst="rect">
            <a:avLst/>
          </a:prstGeom>
          <a:noFill/>
          <a:ln/>
        </p:spPr>
        <p:txBody>
          <a:bodyPr wrap="square" lIns="0" tIns="0" rIns="0" bIns="0" rtlCol="0" anchor="ctr"/>
          <a:lstStyle/>
          <a:p>
            <a:pPr marL="0" indent="0">
              <a:buNone/>
            </a:pPr>
            <a:r>
              <a:rPr lang="en-US" sz="1050" b="1" dirty="0">
                <a:solidFill>
                  <a:srgbClr val="7C3AED"/>
                </a:solidFill>
                <a:latin typeface="Calibri" pitchFamily="34" charset="0"/>
                <a:ea typeface="Calibri" pitchFamily="34" charset="-122"/>
                <a:cs typeface="Calibri" pitchFamily="34" charset="-120"/>
              </a:rPr>
              <a:t>Step 5 — Exporting the Timetable as PDF</a:t>
            </a:r>
            <a:endParaRPr lang="en-US" sz="1050" dirty="0"/>
          </a:p>
        </p:txBody>
      </p:sp>
      <p:sp>
        <p:nvSpPr>
          <p:cNvPr id="29" name="Text 27"/>
          <p:cNvSpPr/>
          <p:nvPr/>
        </p:nvSpPr>
        <p:spPr>
          <a:xfrm>
            <a:off x="5349240" y="2377440"/>
            <a:ext cx="3520440" cy="512064"/>
          </a:xfrm>
          <a:prstGeom prst="rect">
            <a:avLst/>
          </a:prstGeom>
          <a:noFill/>
          <a:ln/>
        </p:spPr>
        <p:txBody>
          <a:bodyPr wrap="square" lIns="12700" tIns="38100" rIns="38100" bIns="12700" rtlCol="0" anchor="ctr"/>
          <a:lstStyle/>
          <a:p>
            <a:pPr marL="0" indent="0" algn="just">
              <a:buNone/>
            </a:pPr>
            <a:r>
              <a:rPr lang="en-US" sz="880" dirty="0">
                <a:solidFill>
                  <a:srgbClr val="CBD5E1"/>
                </a:solidFill>
                <a:latin typeface="Calibri" pitchFamily="34" charset="0"/>
                <a:ea typeface="Calibri" pitchFamily="34" charset="-122"/>
                <a:cs typeface="Calibri" pitchFamily="34" charset="-120"/>
              </a:rPr>
              <a:t>The student taps Export PDF. The PDF Service queries all entries, constructs the 9-slot landscape A4 grid, and produces the document. The student may save it to Downloads or share it instantly through the native OS share sheet.</a:t>
            </a:r>
            <a:endParaRPr lang="en-US" sz="880" dirty="0"/>
          </a:p>
        </p:txBody>
      </p:sp>
      <p:sp>
        <p:nvSpPr>
          <p:cNvPr id="30" name="Shape 28"/>
          <p:cNvSpPr/>
          <p:nvPr/>
        </p:nvSpPr>
        <p:spPr>
          <a:xfrm>
            <a:off x="4709160" y="3054096"/>
            <a:ext cx="4251960" cy="877824"/>
          </a:xfrm>
          <a:prstGeom prst="rect">
            <a:avLst/>
          </a:prstGeom>
          <a:solidFill>
            <a:srgbClr val="0D2137"/>
          </a:solidFill>
          <a:ln w="12700">
            <a:solidFill>
              <a:srgbClr val="1E3A5F"/>
            </a:solidFill>
            <a:prstDash val="solid"/>
          </a:ln>
        </p:spPr>
      </p:sp>
      <p:sp>
        <p:nvSpPr>
          <p:cNvPr id="31" name="Shape 29"/>
          <p:cNvSpPr/>
          <p:nvPr/>
        </p:nvSpPr>
        <p:spPr>
          <a:xfrm>
            <a:off x="4800600" y="3236976"/>
            <a:ext cx="457200" cy="457200"/>
          </a:xfrm>
          <a:prstGeom prst="line">
            <a:avLst/>
          </a:prstGeom>
          <a:solidFill>
            <a:srgbClr val="EC4899"/>
          </a:solidFill>
          <a:ln/>
        </p:spPr>
      </p:sp>
      <p:sp>
        <p:nvSpPr>
          <p:cNvPr id="32" name="Text 30"/>
          <p:cNvSpPr/>
          <p:nvPr/>
        </p:nvSpPr>
        <p:spPr>
          <a:xfrm>
            <a:off x="4800600" y="3236976"/>
            <a:ext cx="457200" cy="457200"/>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6</a:t>
            </a:r>
            <a:endParaRPr lang="en-US" sz="1400" dirty="0"/>
          </a:p>
        </p:txBody>
      </p:sp>
      <p:sp>
        <p:nvSpPr>
          <p:cNvPr id="33" name="Text 31"/>
          <p:cNvSpPr/>
          <p:nvPr/>
        </p:nvSpPr>
        <p:spPr>
          <a:xfrm>
            <a:off x="5349240" y="3108960"/>
            <a:ext cx="3520440" cy="274320"/>
          </a:xfrm>
          <a:prstGeom prst="rect">
            <a:avLst/>
          </a:prstGeom>
          <a:noFill/>
          <a:ln/>
        </p:spPr>
        <p:txBody>
          <a:bodyPr wrap="square" lIns="0" tIns="0" rIns="0" bIns="0" rtlCol="0" anchor="ctr"/>
          <a:lstStyle/>
          <a:p>
            <a:pPr marL="0" indent="0">
              <a:buNone/>
            </a:pPr>
            <a:r>
              <a:rPr lang="en-US" sz="1050" b="1" dirty="0">
                <a:solidFill>
                  <a:srgbClr val="EC4899"/>
                </a:solidFill>
                <a:latin typeface="Calibri" pitchFamily="34" charset="0"/>
                <a:ea typeface="Calibri" pitchFamily="34" charset="-122"/>
                <a:cs typeface="Calibri" pitchFamily="34" charset="-120"/>
              </a:rPr>
              <a:t>Step 6 — Settings &amp; Configuration</a:t>
            </a:r>
            <a:endParaRPr lang="en-US" sz="1050" dirty="0"/>
          </a:p>
        </p:txBody>
      </p:sp>
      <p:sp>
        <p:nvSpPr>
          <p:cNvPr id="34" name="Text 32"/>
          <p:cNvSpPr/>
          <p:nvPr/>
        </p:nvSpPr>
        <p:spPr>
          <a:xfrm>
            <a:off x="5349240" y="3383280"/>
            <a:ext cx="3520440" cy="512064"/>
          </a:xfrm>
          <a:prstGeom prst="rect">
            <a:avLst/>
          </a:prstGeom>
          <a:noFill/>
          <a:ln/>
        </p:spPr>
        <p:txBody>
          <a:bodyPr wrap="square" lIns="12700" tIns="38100" rIns="38100" bIns="12700" rtlCol="0" anchor="ctr"/>
          <a:lstStyle/>
          <a:p>
            <a:pPr marL="0" indent="0" algn="just">
              <a:buNone/>
            </a:pPr>
            <a:r>
              <a:rPr lang="en-US" sz="880" dirty="0">
                <a:solidFill>
                  <a:srgbClr val="CBD5E1"/>
                </a:solidFill>
                <a:latin typeface="Calibri" pitchFamily="34" charset="0"/>
                <a:ea typeface="Calibri" pitchFamily="34" charset="-122"/>
                <a:cs typeface="Calibri" pitchFamily="34" charset="-120"/>
              </a:rPr>
              <a:t>The Settings screen provides control over dark mode, active working days, Warning and Danger attendance thresholds, the subject master list, and declared holidays — allowing the app to adapt fully to each student's institutional context.</a:t>
            </a:r>
            <a:endParaRPr lang="en-US" sz="880" dirty="0"/>
          </a:p>
        </p:txBody>
      </p:sp>
      <p:sp>
        <p:nvSpPr>
          <p:cNvPr id="35" name="Shape 33"/>
          <p:cNvSpPr/>
          <p:nvPr/>
        </p:nvSpPr>
        <p:spPr>
          <a:xfrm>
            <a:off x="4709160" y="4059936"/>
            <a:ext cx="4251960" cy="877824"/>
          </a:xfrm>
          <a:prstGeom prst="rect">
            <a:avLst/>
          </a:prstGeom>
          <a:solidFill>
            <a:srgbClr val="0D2137"/>
          </a:solidFill>
          <a:ln w="12700">
            <a:solidFill>
              <a:srgbClr val="1E3A5F"/>
            </a:solidFill>
            <a:prstDash val="solid"/>
          </a:ln>
        </p:spPr>
      </p:sp>
      <p:sp>
        <p:nvSpPr>
          <p:cNvPr id="36" name="Shape 34"/>
          <p:cNvSpPr/>
          <p:nvPr/>
        </p:nvSpPr>
        <p:spPr>
          <a:xfrm>
            <a:off x="4800600" y="4242816"/>
            <a:ext cx="457200" cy="457200"/>
          </a:xfrm>
          <a:prstGeom prst="line">
            <a:avLst/>
          </a:prstGeom>
          <a:solidFill>
            <a:srgbClr val="06B6D4"/>
          </a:solidFill>
          <a:ln/>
        </p:spPr>
      </p:sp>
      <p:sp>
        <p:nvSpPr>
          <p:cNvPr id="37" name="Text 35"/>
          <p:cNvSpPr/>
          <p:nvPr/>
        </p:nvSpPr>
        <p:spPr>
          <a:xfrm>
            <a:off x="4800600" y="4242816"/>
            <a:ext cx="457200" cy="457200"/>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7</a:t>
            </a:r>
            <a:endParaRPr lang="en-US" sz="1400" dirty="0"/>
          </a:p>
        </p:txBody>
      </p:sp>
      <p:sp>
        <p:nvSpPr>
          <p:cNvPr id="38" name="Text 36"/>
          <p:cNvSpPr/>
          <p:nvPr/>
        </p:nvSpPr>
        <p:spPr>
          <a:xfrm>
            <a:off x="5349240" y="4114800"/>
            <a:ext cx="3520440" cy="274320"/>
          </a:xfrm>
          <a:prstGeom prst="rect">
            <a:avLst/>
          </a:prstGeom>
          <a:noFill/>
          <a:ln/>
        </p:spPr>
        <p:txBody>
          <a:bodyPr wrap="square" lIns="0" tIns="0" rIns="0" bIns="0" rtlCol="0" anchor="ctr"/>
          <a:lstStyle/>
          <a:p>
            <a:pPr marL="0" indent="0">
              <a:buNone/>
            </a:pPr>
            <a:r>
              <a:rPr lang="en-US" sz="1050" b="1" dirty="0">
                <a:solidFill>
                  <a:srgbClr val="06B6D4"/>
                </a:solidFill>
                <a:latin typeface="Calibri" pitchFamily="34" charset="0"/>
                <a:ea typeface="Calibri" pitchFamily="34" charset="-122"/>
                <a:cs typeface="Calibri" pitchFamily="34" charset="-120"/>
              </a:rPr>
              <a:t>Step 7 — 45-Day Semester Reset Prompt</a:t>
            </a:r>
            <a:endParaRPr lang="en-US" sz="1050" dirty="0"/>
          </a:p>
        </p:txBody>
      </p:sp>
      <p:sp>
        <p:nvSpPr>
          <p:cNvPr id="39" name="Text 37"/>
          <p:cNvSpPr/>
          <p:nvPr/>
        </p:nvSpPr>
        <p:spPr>
          <a:xfrm>
            <a:off x="5349240" y="4389120"/>
            <a:ext cx="3520440" cy="512064"/>
          </a:xfrm>
          <a:prstGeom prst="rect">
            <a:avLst/>
          </a:prstGeom>
          <a:noFill/>
          <a:ln/>
        </p:spPr>
        <p:txBody>
          <a:bodyPr wrap="square" lIns="12700" tIns="38100" rIns="38100" bIns="12700" rtlCol="0" anchor="ctr"/>
          <a:lstStyle/>
          <a:p>
            <a:pPr marL="0" indent="0" algn="just">
              <a:buNone/>
            </a:pPr>
            <a:r>
              <a:rPr lang="en-US" sz="880" dirty="0">
                <a:solidFill>
                  <a:srgbClr val="CBD5E1"/>
                </a:solidFill>
                <a:latin typeface="Calibri" pitchFamily="34" charset="0"/>
                <a:ea typeface="Calibri" pitchFamily="34" charset="-122"/>
                <a:cs typeface="Calibri" pitchFamily="34" charset="-120"/>
              </a:rPr>
              <a:t>After 45 days of use, the next app launch triggers a dialog: A new semester may have started — Clear all data? The student may reset everything for the new semester, defer the prompt by 7 days, or dismiss it entirely without any data loss.</a:t>
            </a:r>
            <a:endParaRPr lang="en-US" sz="880" dirty="0"/>
          </a:p>
        </p:txBody>
      </p:sp>
      <p:sp>
        <p:nvSpPr>
          <p:cNvPr id="40" name="Text 38"/>
          <p:cNvSpPr/>
          <p:nvPr/>
        </p:nvSpPr>
        <p:spPr>
          <a:xfrm>
            <a:off x="228600" y="4919472"/>
            <a:ext cx="8686800" cy="182880"/>
          </a:xfrm>
          <a:prstGeom prst="rect">
            <a:avLst/>
          </a:prstGeom>
          <a:noFill/>
          <a:ln/>
        </p:spPr>
        <p:txBody>
          <a:bodyPr wrap="square" lIns="0" tIns="0" rIns="0" bIns="0" rtlCol="0" anchor="ctr"/>
          <a:lstStyle/>
          <a:p>
            <a:pPr marL="0" indent="0" algn="ctr">
              <a:buNone/>
            </a:pPr>
            <a:r>
              <a:rPr lang="en-US" sz="850" i="1" dirty="0">
                <a:solidFill>
                  <a:srgbClr val="3D5A80"/>
                </a:solidFill>
                <a:latin typeface="Calibri" pitchFamily="34" charset="0"/>
                <a:ea typeface="Calibri" pitchFamily="34" charset="-122"/>
                <a:cs typeface="Calibri" pitchFamily="34" charset="-120"/>
              </a:rPr>
              <a:t>SchedIQ — Production-ready · Offline-First · Intelligent Academic Scheduling</a:t>
            </a:r>
            <a:endParaRPr lang="en-US" sz="85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137"/>
          </a:solidFill>
          <a:ln/>
        </p:spPr>
      </p:sp>
      <p:sp>
        <p:nvSpPr>
          <p:cNvPr id="3" name="Text 1"/>
          <p:cNvSpPr/>
          <p:nvPr/>
        </p:nvSpPr>
        <p:spPr>
          <a:xfrm>
            <a:off x="320040" y="0"/>
            <a:ext cx="8503920" cy="56692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Project Demonstration</a:t>
            </a:r>
            <a:endParaRPr lang="en-US" sz="2200" dirty="0"/>
          </a:p>
        </p:txBody>
      </p:sp>
      <p:sp>
        <p:nvSpPr>
          <p:cNvPr id="4" name="Text 2"/>
          <p:cNvSpPr/>
          <p:nvPr/>
        </p:nvSpPr>
        <p:spPr>
          <a:xfrm>
            <a:off x="228600" y="658368"/>
            <a:ext cx="8686800" cy="347472"/>
          </a:xfrm>
          <a:prstGeom prst="rect">
            <a:avLst/>
          </a:prstGeom>
          <a:noFill/>
          <a:ln/>
        </p:spPr>
        <p:txBody>
          <a:bodyPr wrap="square" lIns="25400" tIns="50800" rIns="50800" bIns="25400" rtlCol="0" anchor="ctr"/>
          <a:lstStyle/>
          <a:p>
            <a:pPr marL="0" indent="0" algn="just">
              <a:buNone/>
            </a:pPr>
            <a:r>
              <a:rPr lang="en-US" sz="1150" i="1" dirty="0">
                <a:solidFill>
                  <a:srgbClr val="90CAF9"/>
                </a:solidFill>
                <a:latin typeface="Calibri" pitchFamily="34" charset="0"/>
                <a:ea typeface="Calibri" pitchFamily="34" charset="-122"/>
                <a:cs typeface="Calibri" pitchFamily="34" charset="-120"/>
              </a:rPr>
              <a:t>The following walkthrough describes the complete user journey through SchedIQ from first launch to semester-end reset.</a:t>
            </a:r>
            <a:endParaRPr lang="en-US" sz="1150" dirty="0"/>
          </a:p>
        </p:txBody>
      </p:sp>
      <p:sp>
        <p:nvSpPr>
          <p:cNvPr id="5" name="Shape 3"/>
          <p:cNvSpPr/>
          <p:nvPr/>
        </p:nvSpPr>
        <p:spPr>
          <a:xfrm>
            <a:off x="228600" y="1042416"/>
            <a:ext cx="4251960" cy="877824"/>
          </a:xfrm>
          <a:prstGeom prst="rect">
            <a:avLst/>
          </a:prstGeom>
          <a:solidFill>
            <a:srgbClr val="0D2137"/>
          </a:solidFill>
          <a:ln w="12700">
            <a:solidFill>
              <a:srgbClr val="1E3A5F"/>
            </a:solidFill>
            <a:prstDash val="solid"/>
          </a:ln>
        </p:spPr>
      </p:sp>
      <p:sp>
        <p:nvSpPr>
          <p:cNvPr id="6" name="Shape 4"/>
          <p:cNvSpPr/>
          <p:nvPr/>
        </p:nvSpPr>
        <p:spPr>
          <a:xfrm>
            <a:off x="320040" y="1225296"/>
            <a:ext cx="457200" cy="457200"/>
          </a:xfrm>
          <a:prstGeom prst="line">
            <a:avLst/>
          </a:prstGeom>
          <a:solidFill>
            <a:srgbClr val="00B4D8"/>
          </a:solidFill>
          <a:ln/>
        </p:spPr>
      </p:sp>
      <p:sp>
        <p:nvSpPr>
          <p:cNvPr id="7" name="Text 5"/>
          <p:cNvSpPr/>
          <p:nvPr/>
        </p:nvSpPr>
        <p:spPr>
          <a:xfrm>
            <a:off x="320040" y="1225296"/>
            <a:ext cx="457200" cy="457200"/>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868680" y="1097280"/>
            <a:ext cx="3520440" cy="274320"/>
          </a:xfrm>
          <a:prstGeom prst="rect">
            <a:avLst/>
          </a:prstGeom>
          <a:noFill/>
          <a:ln/>
        </p:spPr>
        <p:txBody>
          <a:bodyPr wrap="square" lIns="0" tIns="0" rIns="0" bIns="0" rtlCol="0" anchor="ctr"/>
          <a:lstStyle/>
          <a:p>
            <a:pPr marL="0" indent="0">
              <a:buNone/>
            </a:pPr>
            <a:r>
              <a:rPr lang="en-US" sz="1050" b="1" dirty="0">
                <a:solidFill>
                  <a:srgbClr val="00B4D8"/>
                </a:solidFill>
                <a:latin typeface="Calibri" pitchFamily="34" charset="0"/>
                <a:ea typeface="Calibri" pitchFamily="34" charset="-122"/>
                <a:cs typeface="Calibri" pitchFamily="34" charset="-120"/>
              </a:rPr>
              <a:t>Step 1 — Launch &amp; Onboarding</a:t>
            </a:r>
            <a:endParaRPr lang="en-US" sz="1050" dirty="0"/>
          </a:p>
        </p:txBody>
      </p:sp>
      <p:sp>
        <p:nvSpPr>
          <p:cNvPr id="9" name="Text 7"/>
          <p:cNvSpPr/>
          <p:nvPr/>
        </p:nvSpPr>
        <p:spPr>
          <a:xfrm>
            <a:off x="868680" y="1371600"/>
            <a:ext cx="3520440" cy="512064"/>
          </a:xfrm>
          <a:prstGeom prst="rect">
            <a:avLst/>
          </a:prstGeom>
          <a:noFill/>
          <a:ln/>
        </p:spPr>
        <p:txBody>
          <a:bodyPr wrap="square" lIns="12700" tIns="38100" rIns="38100" bIns="12700" rtlCol="0" anchor="ctr"/>
          <a:lstStyle/>
          <a:p>
            <a:pPr marL="0" indent="0" algn="just">
              <a:buNone/>
            </a:pPr>
            <a:r>
              <a:rPr lang="en-US" sz="880" dirty="0">
                <a:solidFill>
                  <a:srgbClr val="CBD5E1"/>
                </a:solidFill>
                <a:latin typeface="Calibri" pitchFamily="34" charset="0"/>
                <a:ea typeface="Calibri" pitchFamily="34" charset="-122"/>
                <a:cs typeface="Calibri" pitchFamily="34" charset="-120"/>
              </a:rPr>
              <a:t>On first launch, a sleek onboarding screen guides the student through the app's capabilities. It appears once only. Tapping Get Started initialises all six data providers and loads the main shell.</a:t>
            </a:r>
            <a:endParaRPr lang="en-US" sz="880" dirty="0"/>
          </a:p>
        </p:txBody>
      </p:sp>
      <p:sp>
        <p:nvSpPr>
          <p:cNvPr id="10" name="Shape 8"/>
          <p:cNvSpPr/>
          <p:nvPr/>
        </p:nvSpPr>
        <p:spPr>
          <a:xfrm>
            <a:off x="228600" y="2048256"/>
            <a:ext cx="4251960" cy="877824"/>
          </a:xfrm>
          <a:prstGeom prst="rect">
            <a:avLst/>
          </a:prstGeom>
          <a:solidFill>
            <a:srgbClr val="0D2137"/>
          </a:solidFill>
          <a:ln w="12700">
            <a:solidFill>
              <a:srgbClr val="1E3A5F"/>
            </a:solidFill>
            <a:prstDash val="solid"/>
          </a:ln>
        </p:spPr>
      </p:sp>
      <p:sp>
        <p:nvSpPr>
          <p:cNvPr id="11" name="Shape 9"/>
          <p:cNvSpPr/>
          <p:nvPr/>
        </p:nvSpPr>
        <p:spPr>
          <a:xfrm>
            <a:off x="320040" y="2231136"/>
            <a:ext cx="457200" cy="457200"/>
          </a:xfrm>
          <a:prstGeom prst="line">
            <a:avLst/>
          </a:prstGeom>
          <a:solidFill>
            <a:srgbClr val="10B981"/>
          </a:solidFill>
          <a:ln/>
        </p:spPr>
      </p:sp>
      <p:sp>
        <p:nvSpPr>
          <p:cNvPr id="12" name="Text 10"/>
          <p:cNvSpPr/>
          <p:nvPr/>
        </p:nvSpPr>
        <p:spPr>
          <a:xfrm>
            <a:off x="320040" y="2231136"/>
            <a:ext cx="457200" cy="457200"/>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868680" y="2103120"/>
            <a:ext cx="3520440" cy="274320"/>
          </a:xfrm>
          <a:prstGeom prst="rect">
            <a:avLst/>
          </a:prstGeom>
          <a:noFill/>
          <a:ln/>
        </p:spPr>
        <p:txBody>
          <a:bodyPr wrap="square" lIns="0" tIns="0" rIns="0" bIns="0" rtlCol="0" anchor="ctr"/>
          <a:lstStyle/>
          <a:p>
            <a:pPr marL="0" indent="0">
              <a:buNone/>
            </a:pPr>
            <a:r>
              <a:rPr lang="en-US" sz="1050" b="1" dirty="0">
                <a:solidFill>
                  <a:srgbClr val="10B981"/>
                </a:solidFill>
                <a:latin typeface="Calibri" pitchFamily="34" charset="0"/>
                <a:ea typeface="Calibri" pitchFamily="34" charset="-122"/>
                <a:cs typeface="Calibri" pitchFamily="34" charset="-120"/>
              </a:rPr>
              <a:t>Step 2 — Dashboard / Home Screen</a:t>
            </a:r>
            <a:endParaRPr lang="en-US" sz="1050" dirty="0"/>
          </a:p>
        </p:txBody>
      </p:sp>
      <p:sp>
        <p:nvSpPr>
          <p:cNvPr id="14" name="Text 12"/>
          <p:cNvSpPr/>
          <p:nvPr/>
        </p:nvSpPr>
        <p:spPr>
          <a:xfrm>
            <a:off x="868680" y="2377440"/>
            <a:ext cx="3520440" cy="512064"/>
          </a:xfrm>
          <a:prstGeom prst="rect">
            <a:avLst/>
          </a:prstGeom>
          <a:noFill/>
          <a:ln/>
        </p:spPr>
        <p:txBody>
          <a:bodyPr wrap="square" lIns="12700" tIns="38100" rIns="38100" bIns="12700" rtlCol="0" anchor="ctr"/>
          <a:lstStyle/>
          <a:p>
            <a:pPr marL="0" indent="0" algn="just">
              <a:buNone/>
            </a:pPr>
            <a:r>
              <a:rPr lang="en-US" sz="880" dirty="0">
                <a:solidFill>
                  <a:srgbClr val="CBD5E1"/>
                </a:solidFill>
                <a:latin typeface="Calibri" pitchFamily="34" charset="0"/>
                <a:ea typeface="Calibri" pitchFamily="34" charset="-122"/>
                <a:cs typeface="Calibri" pitchFamily="34" charset="-120"/>
              </a:rPr>
              <a:t>The home screen automatically displays the timetable for the current day. A tab bar lists abbreviated day names with a dot indicator on today's tab. If no classes have been added, a friendly empty-state prompt is shown with instructions.</a:t>
            </a:r>
            <a:endParaRPr lang="en-US" sz="880" dirty="0"/>
          </a:p>
        </p:txBody>
      </p:sp>
      <p:sp>
        <p:nvSpPr>
          <p:cNvPr id="15" name="Shape 13"/>
          <p:cNvSpPr/>
          <p:nvPr/>
        </p:nvSpPr>
        <p:spPr>
          <a:xfrm>
            <a:off x="228600" y="3054096"/>
            <a:ext cx="4251960" cy="877824"/>
          </a:xfrm>
          <a:prstGeom prst="rect">
            <a:avLst/>
          </a:prstGeom>
          <a:solidFill>
            <a:srgbClr val="0D2137"/>
          </a:solidFill>
          <a:ln w="12700">
            <a:solidFill>
              <a:srgbClr val="1E3A5F"/>
            </a:solidFill>
            <a:prstDash val="solid"/>
          </a:ln>
        </p:spPr>
      </p:sp>
      <p:sp>
        <p:nvSpPr>
          <p:cNvPr id="16" name="Shape 14"/>
          <p:cNvSpPr/>
          <p:nvPr/>
        </p:nvSpPr>
        <p:spPr>
          <a:xfrm>
            <a:off x="320040" y="3236976"/>
            <a:ext cx="457200" cy="457200"/>
          </a:xfrm>
          <a:prstGeom prst="line">
            <a:avLst/>
          </a:prstGeom>
          <a:solidFill>
            <a:srgbClr val="F59E0B"/>
          </a:solidFill>
          <a:ln/>
        </p:spPr>
      </p:sp>
      <p:sp>
        <p:nvSpPr>
          <p:cNvPr id="17" name="Text 15"/>
          <p:cNvSpPr/>
          <p:nvPr/>
        </p:nvSpPr>
        <p:spPr>
          <a:xfrm>
            <a:off x="320040" y="3236976"/>
            <a:ext cx="457200" cy="457200"/>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868680" y="3108960"/>
            <a:ext cx="3520440" cy="274320"/>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Step 3 — Adding a New Class</a:t>
            </a:r>
            <a:endParaRPr lang="en-US" sz="1050" dirty="0"/>
          </a:p>
        </p:txBody>
      </p:sp>
      <p:sp>
        <p:nvSpPr>
          <p:cNvPr id="19" name="Text 17"/>
          <p:cNvSpPr/>
          <p:nvPr/>
        </p:nvSpPr>
        <p:spPr>
          <a:xfrm>
            <a:off x="868680" y="3383280"/>
            <a:ext cx="3520440" cy="512064"/>
          </a:xfrm>
          <a:prstGeom prst="rect">
            <a:avLst/>
          </a:prstGeom>
          <a:noFill/>
          <a:ln/>
        </p:spPr>
        <p:txBody>
          <a:bodyPr wrap="square" lIns="12700" tIns="38100" rIns="38100" bIns="12700" rtlCol="0" anchor="ctr"/>
          <a:lstStyle/>
          <a:p>
            <a:pPr marL="0" indent="0" algn="just">
              <a:buNone/>
            </a:pPr>
            <a:r>
              <a:rPr lang="en-US" sz="880" dirty="0">
                <a:solidFill>
                  <a:srgbClr val="CBD5E1"/>
                </a:solidFill>
                <a:latin typeface="Calibri" pitchFamily="34" charset="0"/>
                <a:ea typeface="Calibri" pitchFamily="34" charset="-122"/>
                <a:cs typeface="Calibri" pitchFamily="34" charset="-120"/>
              </a:rPr>
              <a:t>The student taps Add Class and fills in the subject, day, start time, end time, and room. On Save, the overlap engine queries the database. If the slot is free the entry is saved; if a conflict is detected, the form shows an error and the entry is not saved.</a:t>
            </a:r>
            <a:endParaRPr lang="en-US" sz="880" dirty="0"/>
          </a:p>
        </p:txBody>
      </p:sp>
      <p:sp>
        <p:nvSpPr>
          <p:cNvPr id="20" name="Shape 18"/>
          <p:cNvSpPr/>
          <p:nvPr/>
        </p:nvSpPr>
        <p:spPr>
          <a:xfrm>
            <a:off x="228600" y="4059936"/>
            <a:ext cx="4251960" cy="877824"/>
          </a:xfrm>
          <a:prstGeom prst="rect">
            <a:avLst/>
          </a:prstGeom>
          <a:solidFill>
            <a:srgbClr val="0D2137"/>
          </a:solidFill>
          <a:ln w="12700">
            <a:solidFill>
              <a:srgbClr val="1E3A5F"/>
            </a:solidFill>
            <a:prstDash val="solid"/>
          </a:ln>
        </p:spPr>
      </p:sp>
      <p:sp>
        <p:nvSpPr>
          <p:cNvPr id="21" name="Shape 19"/>
          <p:cNvSpPr/>
          <p:nvPr/>
        </p:nvSpPr>
        <p:spPr>
          <a:xfrm>
            <a:off x="320040" y="4242816"/>
            <a:ext cx="457200" cy="457200"/>
          </a:xfrm>
          <a:prstGeom prst="line">
            <a:avLst/>
          </a:prstGeom>
          <a:solidFill>
            <a:srgbClr val="EF4444"/>
          </a:solidFill>
          <a:ln/>
        </p:spPr>
      </p:sp>
      <p:sp>
        <p:nvSpPr>
          <p:cNvPr id="22" name="Text 20"/>
          <p:cNvSpPr/>
          <p:nvPr/>
        </p:nvSpPr>
        <p:spPr>
          <a:xfrm>
            <a:off x="320040" y="4242816"/>
            <a:ext cx="457200" cy="457200"/>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868680" y="4114800"/>
            <a:ext cx="3520440" cy="274320"/>
          </a:xfrm>
          <a:prstGeom prst="rect">
            <a:avLst/>
          </a:prstGeom>
          <a:noFill/>
          <a:ln/>
        </p:spPr>
        <p:txBody>
          <a:bodyPr wrap="square" lIns="0" tIns="0" rIns="0" bIns="0" rtlCol="0" anchor="ctr"/>
          <a:lstStyle/>
          <a:p>
            <a:pPr marL="0" indent="0">
              <a:buNone/>
            </a:pPr>
            <a:r>
              <a:rPr lang="en-US" sz="1050" b="1" dirty="0">
                <a:solidFill>
                  <a:srgbClr val="EF4444"/>
                </a:solidFill>
                <a:latin typeface="Calibri" pitchFamily="34" charset="0"/>
                <a:ea typeface="Calibri" pitchFamily="34" charset="-122"/>
                <a:cs typeface="Calibri" pitchFamily="34" charset="-120"/>
              </a:rPr>
              <a:t>Step 4 — Marking Attendance</a:t>
            </a:r>
            <a:endParaRPr lang="en-US" sz="1050" dirty="0"/>
          </a:p>
        </p:txBody>
      </p:sp>
      <p:sp>
        <p:nvSpPr>
          <p:cNvPr id="24" name="Text 22"/>
          <p:cNvSpPr/>
          <p:nvPr/>
        </p:nvSpPr>
        <p:spPr>
          <a:xfrm>
            <a:off x="868680" y="4389120"/>
            <a:ext cx="3520440" cy="512064"/>
          </a:xfrm>
          <a:prstGeom prst="rect">
            <a:avLst/>
          </a:prstGeom>
          <a:noFill/>
          <a:ln/>
        </p:spPr>
        <p:txBody>
          <a:bodyPr wrap="square" lIns="12700" tIns="38100" rIns="38100" bIns="12700" rtlCol="0" anchor="ctr"/>
          <a:lstStyle/>
          <a:p>
            <a:pPr marL="0" indent="0" algn="just">
              <a:buNone/>
            </a:pPr>
            <a:r>
              <a:rPr lang="en-US" sz="880" dirty="0">
                <a:solidFill>
                  <a:srgbClr val="CBD5E1"/>
                </a:solidFill>
                <a:latin typeface="Calibri" pitchFamily="34" charset="0"/>
                <a:ea typeface="Calibri" pitchFamily="34" charset="-122"/>
                <a:cs typeface="Calibri" pitchFamily="34" charset="-120"/>
              </a:rPr>
              <a:t>After each class, the student marks Present or Absent. The Attendance screen immediately recalculates the running percentage per subject. If it drops below the Warning threshold a yellow alert appears; below Danger a red alert is shown.</a:t>
            </a:r>
            <a:endParaRPr lang="en-US" sz="880" dirty="0"/>
          </a:p>
        </p:txBody>
      </p:sp>
      <p:sp>
        <p:nvSpPr>
          <p:cNvPr id="25" name="Shape 23"/>
          <p:cNvSpPr/>
          <p:nvPr/>
        </p:nvSpPr>
        <p:spPr>
          <a:xfrm>
            <a:off x="4709160" y="2048256"/>
            <a:ext cx="4251960" cy="877824"/>
          </a:xfrm>
          <a:prstGeom prst="rect">
            <a:avLst/>
          </a:prstGeom>
          <a:solidFill>
            <a:srgbClr val="0D2137"/>
          </a:solidFill>
          <a:ln w="12700">
            <a:solidFill>
              <a:srgbClr val="1E3A5F"/>
            </a:solidFill>
            <a:prstDash val="solid"/>
          </a:ln>
        </p:spPr>
      </p:sp>
      <p:sp>
        <p:nvSpPr>
          <p:cNvPr id="26" name="Shape 24"/>
          <p:cNvSpPr/>
          <p:nvPr/>
        </p:nvSpPr>
        <p:spPr>
          <a:xfrm>
            <a:off x="4800600" y="2231136"/>
            <a:ext cx="457200" cy="457200"/>
          </a:xfrm>
          <a:prstGeom prst="line">
            <a:avLst/>
          </a:prstGeom>
          <a:solidFill>
            <a:srgbClr val="7C3AED"/>
          </a:solidFill>
          <a:ln/>
        </p:spPr>
      </p:sp>
      <p:sp>
        <p:nvSpPr>
          <p:cNvPr id="27" name="Text 25"/>
          <p:cNvSpPr/>
          <p:nvPr/>
        </p:nvSpPr>
        <p:spPr>
          <a:xfrm>
            <a:off x="4800600" y="2231136"/>
            <a:ext cx="457200" cy="457200"/>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5349240" y="2103120"/>
            <a:ext cx="3520440" cy="274320"/>
          </a:xfrm>
          <a:prstGeom prst="rect">
            <a:avLst/>
          </a:prstGeom>
          <a:noFill/>
          <a:ln/>
        </p:spPr>
        <p:txBody>
          <a:bodyPr wrap="square" lIns="0" tIns="0" rIns="0" bIns="0" rtlCol="0" anchor="ctr"/>
          <a:lstStyle/>
          <a:p>
            <a:pPr marL="0" indent="0">
              <a:buNone/>
            </a:pPr>
            <a:r>
              <a:rPr lang="en-US" sz="1050" b="1" dirty="0">
                <a:solidFill>
                  <a:srgbClr val="7C3AED"/>
                </a:solidFill>
                <a:latin typeface="Calibri" pitchFamily="34" charset="0"/>
                <a:ea typeface="Calibri" pitchFamily="34" charset="-122"/>
                <a:cs typeface="Calibri" pitchFamily="34" charset="-120"/>
              </a:rPr>
              <a:t>Step 5 — Exporting the Timetable as PDF</a:t>
            </a:r>
            <a:endParaRPr lang="en-US" sz="1050" dirty="0"/>
          </a:p>
        </p:txBody>
      </p:sp>
      <p:sp>
        <p:nvSpPr>
          <p:cNvPr id="29" name="Text 27"/>
          <p:cNvSpPr/>
          <p:nvPr/>
        </p:nvSpPr>
        <p:spPr>
          <a:xfrm>
            <a:off x="5349240" y="2377440"/>
            <a:ext cx="3520440" cy="512064"/>
          </a:xfrm>
          <a:prstGeom prst="rect">
            <a:avLst/>
          </a:prstGeom>
          <a:noFill/>
          <a:ln/>
        </p:spPr>
        <p:txBody>
          <a:bodyPr wrap="square" lIns="12700" tIns="38100" rIns="38100" bIns="12700" rtlCol="0" anchor="ctr"/>
          <a:lstStyle/>
          <a:p>
            <a:pPr marL="0" indent="0" algn="just">
              <a:buNone/>
            </a:pPr>
            <a:r>
              <a:rPr lang="en-US" sz="880" dirty="0">
                <a:solidFill>
                  <a:srgbClr val="CBD5E1"/>
                </a:solidFill>
                <a:latin typeface="Calibri" pitchFamily="34" charset="0"/>
                <a:ea typeface="Calibri" pitchFamily="34" charset="-122"/>
                <a:cs typeface="Calibri" pitchFamily="34" charset="-120"/>
              </a:rPr>
              <a:t>The student taps Export PDF. The PDF Service queries all entries, constructs the 9-slot landscape A4 grid, and produces the document. The student may save it to Downloads or share it instantly through the native OS share sheet.</a:t>
            </a:r>
            <a:endParaRPr lang="en-US" sz="880" dirty="0"/>
          </a:p>
        </p:txBody>
      </p:sp>
      <p:sp>
        <p:nvSpPr>
          <p:cNvPr id="30" name="Shape 28"/>
          <p:cNvSpPr/>
          <p:nvPr/>
        </p:nvSpPr>
        <p:spPr>
          <a:xfrm>
            <a:off x="4709160" y="3054096"/>
            <a:ext cx="4251960" cy="877824"/>
          </a:xfrm>
          <a:prstGeom prst="rect">
            <a:avLst/>
          </a:prstGeom>
          <a:solidFill>
            <a:srgbClr val="0D2137"/>
          </a:solidFill>
          <a:ln w="12700">
            <a:solidFill>
              <a:srgbClr val="1E3A5F"/>
            </a:solidFill>
            <a:prstDash val="solid"/>
          </a:ln>
        </p:spPr>
      </p:sp>
      <p:sp>
        <p:nvSpPr>
          <p:cNvPr id="31" name="Shape 29"/>
          <p:cNvSpPr/>
          <p:nvPr/>
        </p:nvSpPr>
        <p:spPr>
          <a:xfrm>
            <a:off x="4800600" y="3236976"/>
            <a:ext cx="457200" cy="457200"/>
          </a:xfrm>
          <a:prstGeom prst="line">
            <a:avLst/>
          </a:prstGeom>
          <a:solidFill>
            <a:srgbClr val="EC4899"/>
          </a:solidFill>
          <a:ln/>
        </p:spPr>
      </p:sp>
      <p:sp>
        <p:nvSpPr>
          <p:cNvPr id="32" name="Text 30"/>
          <p:cNvSpPr/>
          <p:nvPr/>
        </p:nvSpPr>
        <p:spPr>
          <a:xfrm>
            <a:off x="4800600" y="3236976"/>
            <a:ext cx="457200" cy="457200"/>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6</a:t>
            </a:r>
            <a:endParaRPr lang="en-US" sz="1400" dirty="0"/>
          </a:p>
        </p:txBody>
      </p:sp>
      <p:sp>
        <p:nvSpPr>
          <p:cNvPr id="33" name="Text 31"/>
          <p:cNvSpPr/>
          <p:nvPr/>
        </p:nvSpPr>
        <p:spPr>
          <a:xfrm>
            <a:off x="5349240" y="3108960"/>
            <a:ext cx="3520440" cy="274320"/>
          </a:xfrm>
          <a:prstGeom prst="rect">
            <a:avLst/>
          </a:prstGeom>
          <a:noFill/>
          <a:ln/>
        </p:spPr>
        <p:txBody>
          <a:bodyPr wrap="square" lIns="0" tIns="0" rIns="0" bIns="0" rtlCol="0" anchor="ctr"/>
          <a:lstStyle/>
          <a:p>
            <a:pPr marL="0" indent="0">
              <a:buNone/>
            </a:pPr>
            <a:r>
              <a:rPr lang="en-US" sz="1050" b="1" dirty="0">
                <a:solidFill>
                  <a:srgbClr val="EC4899"/>
                </a:solidFill>
                <a:latin typeface="Calibri" pitchFamily="34" charset="0"/>
                <a:ea typeface="Calibri" pitchFamily="34" charset="-122"/>
                <a:cs typeface="Calibri" pitchFamily="34" charset="-120"/>
              </a:rPr>
              <a:t>Step 6 — Settings &amp; Configuration</a:t>
            </a:r>
            <a:endParaRPr lang="en-US" sz="1050" dirty="0"/>
          </a:p>
        </p:txBody>
      </p:sp>
      <p:sp>
        <p:nvSpPr>
          <p:cNvPr id="34" name="Text 32"/>
          <p:cNvSpPr/>
          <p:nvPr/>
        </p:nvSpPr>
        <p:spPr>
          <a:xfrm>
            <a:off x="5349240" y="3383280"/>
            <a:ext cx="3520440" cy="512064"/>
          </a:xfrm>
          <a:prstGeom prst="rect">
            <a:avLst/>
          </a:prstGeom>
          <a:noFill/>
          <a:ln/>
        </p:spPr>
        <p:txBody>
          <a:bodyPr wrap="square" lIns="12700" tIns="38100" rIns="38100" bIns="12700" rtlCol="0" anchor="ctr"/>
          <a:lstStyle/>
          <a:p>
            <a:pPr marL="0" indent="0" algn="just">
              <a:buNone/>
            </a:pPr>
            <a:r>
              <a:rPr lang="en-US" sz="880" dirty="0">
                <a:solidFill>
                  <a:srgbClr val="CBD5E1"/>
                </a:solidFill>
                <a:latin typeface="Calibri" pitchFamily="34" charset="0"/>
                <a:ea typeface="Calibri" pitchFamily="34" charset="-122"/>
                <a:cs typeface="Calibri" pitchFamily="34" charset="-120"/>
              </a:rPr>
              <a:t>The Settings screen provides control over dark mode, active working days, Warning and Danger attendance thresholds, the subject master list, and declared holidays — allowing the app to adapt fully to each student's institutional context.</a:t>
            </a:r>
            <a:endParaRPr lang="en-US" sz="880" dirty="0"/>
          </a:p>
        </p:txBody>
      </p:sp>
      <p:sp>
        <p:nvSpPr>
          <p:cNvPr id="35" name="Shape 33"/>
          <p:cNvSpPr/>
          <p:nvPr/>
        </p:nvSpPr>
        <p:spPr>
          <a:xfrm>
            <a:off x="4709160" y="4059936"/>
            <a:ext cx="4251960" cy="877824"/>
          </a:xfrm>
          <a:prstGeom prst="rect">
            <a:avLst/>
          </a:prstGeom>
          <a:solidFill>
            <a:srgbClr val="0D2137"/>
          </a:solidFill>
          <a:ln w="12700">
            <a:solidFill>
              <a:srgbClr val="1E3A5F"/>
            </a:solidFill>
            <a:prstDash val="solid"/>
          </a:ln>
        </p:spPr>
      </p:sp>
      <p:sp>
        <p:nvSpPr>
          <p:cNvPr id="36" name="Shape 34"/>
          <p:cNvSpPr/>
          <p:nvPr/>
        </p:nvSpPr>
        <p:spPr>
          <a:xfrm>
            <a:off x="4800600" y="4242816"/>
            <a:ext cx="457200" cy="457200"/>
          </a:xfrm>
          <a:prstGeom prst="line">
            <a:avLst/>
          </a:prstGeom>
          <a:solidFill>
            <a:srgbClr val="06B6D4"/>
          </a:solidFill>
          <a:ln/>
        </p:spPr>
      </p:sp>
      <p:sp>
        <p:nvSpPr>
          <p:cNvPr id="37" name="Text 35"/>
          <p:cNvSpPr/>
          <p:nvPr/>
        </p:nvSpPr>
        <p:spPr>
          <a:xfrm>
            <a:off x="4800600" y="4242816"/>
            <a:ext cx="457200" cy="457200"/>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7</a:t>
            </a:r>
            <a:endParaRPr lang="en-US" sz="1400" dirty="0"/>
          </a:p>
        </p:txBody>
      </p:sp>
      <p:sp>
        <p:nvSpPr>
          <p:cNvPr id="38" name="Text 36"/>
          <p:cNvSpPr/>
          <p:nvPr/>
        </p:nvSpPr>
        <p:spPr>
          <a:xfrm>
            <a:off x="5349240" y="4114800"/>
            <a:ext cx="3520440" cy="274320"/>
          </a:xfrm>
          <a:prstGeom prst="rect">
            <a:avLst/>
          </a:prstGeom>
          <a:noFill/>
          <a:ln/>
        </p:spPr>
        <p:txBody>
          <a:bodyPr wrap="square" lIns="0" tIns="0" rIns="0" bIns="0" rtlCol="0" anchor="ctr"/>
          <a:lstStyle/>
          <a:p>
            <a:pPr marL="0" indent="0">
              <a:buNone/>
            </a:pPr>
            <a:r>
              <a:rPr lang="en-US" sz="1050" b="1" dirty="0">
                <a:solidFill>
                  <a:srgbClr val="06B6D4"/>
                </a:solidFill>
                <a:latin typeface="Calibri" pitchFamily="34" charset="0"/>
                <a:ea typeface="Calibri" pitchFamily="34" charset="-122"/>
                <a:cs typeface="Calibri" pitchFamily="34" charset="-120"/>
              </a:rPr>
              <a:t>Step 7 — 45-Day Semester Reset Prompt</a:t>
            </a:r>
            <a:endParaRPr lang="en-US" sz="1050" dirty="0"/>
          </a:p>
        </p:txBody>
      </p:sp>
      <p:sp>
        <p:nvSpPr>
          <p:cNvPr id="39" name="Text 37"/>
          <p:cNvSpPr/>
          <p:nvPr/>
        </p:nvSpPr>
        <p:spPr>
          <a:xfrm>
            <a:off x="5349240" y="4389120"/>
            <a:ext cx="3520440" cy="512064"/>
          </a:xfrm>
          <a:prstGeom prst="rect">
            <a:avLst/>
          </a:prstGeom>
          <a:noFill/>
          <a:ln/>
        </p:spPr>
        <p:txBody>
          <a:bodyPr wrap="square" lIns="12700" tIns="38100" rIns="38100" bIns="12700" rtlCol="0" anchor="ctr"/>
          <a:lstStyle/>
          <a:p>
            <a:pPr marL="0" indent="0" algn="just">
              <a:buNone/>
            </a:pPr>
            <a:r>
              <a:rPr lang="en-US" sz="880" dirty="0">
                <a:solidFill>
                  <a:srgbClr val="CBD5E1"/>
                </a:solidFill>
                <a:latin typeface="Calibri" pitchFamily="34" charset="0"/>
                <a:ea typeface="Calibri" pitchFamily="34" charset="-122"/>
                <a:cs typeface="Calibri" pitchFamily="34" charset="-120"/>
              </a:rPr>
              <a:t>After 45 days of use, the next app launch triggers a dialog: A new semester may have started — Clear all data? The student may reset everything for the new semester, defer the prompt by 7 days, or dismiss it entirely without any data loss.</a:t>
            </a:r>
            <a:endParaRPr lang="en-US" sz="880" dirty="0"/>
          </a:p>
        </p:txBody>
      </p:sp>
      <p:sp>
        <p:nvSpPr>
          <p:cNvPr id="40" name="Text 38"/>
          <p:cNvSpPr/>
          <p:nvPr/>
        </p:nvSpPr>
        <p:spPr>
          <a:xfrm>
            <a:off x="228600" y="4919472"/>
            <a:ext cx="8686800" cy="182880"/>
          </a:xfrm>
          <a:prstGeom prst="rect">
            <a:avLst/>
          </a:prstGeom>
          <a:noFill/>
          <a:ln/>
        </p:spPr>
        <p:txBody>
          <a:bodyPr wrap="square" lIns="0" tIns="0" rIns="0" bIns="0" rtlCol="0" anchor="ctr"/>
          <a:lstStyle/>
          <a:p>
            <a:pPr marL="0" indent="0" algn="ctr">
              <a:buNone/>
            </a:pPr>
            <a:r>
              <a:rPr lang="en-US" sz="850" i="1" dirty="0">
                <a:solidFill>
                  <a:srgbClr val="3D5A80"/>
                </a:solidFill>
                <a:latin typeface="Calibri" pitchFamily="34" charset="0"/>
                <a:ea typeface="Calibri" pitchFamily="34" charset="-122"/>
                <a:cs typeface="Calibri" pitchFamily="34" charset="-120"/>
              </a:rPr>
              <a:t>SchedIQ — Production-ready · Offline-First · Intelligent Academic Scheduling</a:t>
            </a:r>
            <a:endParaRPr lang="en-US" sz="850" dirty="0"/>
          </a:p>
        </p:txBody>
      </p:sp>
      <p:pic>
        <p:nvPicPr>
          <p:cNvPr id="41" name="Picture 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1689" y="0"/>
            <a:ext cx="6040622" cy="5143500"/>
          </a:xfrm>
          <a:prstGeom prst="rect">
            <a:avLst/>
          </a:prstGeom>
        </p:spPr>
      </p:pic>
    </p:spTree>
    <p:extLst>
      <p:ext uri="{BB962C8B-B14F-4D97-AF65-F5344CB8AC3E}">
        <p14:creationId xmlns:p14="http://schemas.microsoft.com/office/powerpoint/2010/main" val="21343155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3426</Words>
  <Application>Microsoft Office PowerPoint</Application>
  <PresentationFormat>On-screen Show (16:9)</PresentationFormat>
  <Paragraphs>243</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account</cp:lastModifiedBy>
  <cp:revision>3</cp:revision>
  <dcterms:created xsi:type="dcterms:W3CDTF">2026-05-15T11:13:17Z</dcterms:created>
  <dcterms:modified xsi:type="dcterms:W3CDTF">2026-05-16T04:01:56Z</dcterms:modified>
</cp:coreProperties>
</file>